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</p:sldMasterIdLst>
  <p:notesMasterIdLst>
    <p:notesMasterId r:id="rId73"/>
  </p:notesMasterIdLst>
  <p:handoutMasterIdLst>
    <p:handoutMasterId r:id="rId74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crosoft Build 16:9 Template Dark" id="{5E174FA5-E68B-46F1-90F9-8D8AC2CB06F9}">
          <p14:sldIdLst>
            <p14:sldId id="2147479560"/>
            <p14:sldId id="2147479495"/>
            <p14:sldId id="2147479530"/>
            <p14:sldId id="2147479497"/>
            <p14:sldId id="2147479498"/>
            <p14:sldId id="2147479499"/>
            <p14:sldId id="2147479500"/>
            <p14:sldId id="2147479501"/>
            <p14:sldId id="2147479502"/>
            <p14:sldId id="2147479503"/>
            <p14:sldId id="2147479504"/>
            <p14:sldId id="2147479505"/>
            <p14:sldId id="2147479506"/>
            <p14:sldId id="2147479507"/>
            <p14:sldId id="2147479508"/>
            <p14:sldId id="2147479509"/>
            <p14:sldId id="2147479510"/>
            <p14:sldId id="2147479511"/>
            <p14:sldId id="2147479512"/>
            <p14:sldId id="2147479513"/>
            <p14:sldId id="2147479514"/>
            <p14:sldId id="2147479515"/>
            <p14:sldId id="2147479553"/>
            <p14:sldId id="2147479539"/>
            <p14:sldId id="2147479517"/>
            <p14:sldId id="2147479518"/>
            <p14:sldId id="2147479519"/>
            <p14:sldId id="2147479520"/>
            <p14:sldId id="2147479521"/>
            <p14:sldId id="2147479522"/>
            <p14:sldId id="2147479523"/>
            <p14:sldId id="2147479554"/>
            <p14:sldId id="2147479525"/>
            <p14:sldId id="2147479526"/>
          </p14:sldIdLst>
        </p14:section>
        <p14:section name="Microsoft Build 16:9 Template Light" id="{38B656EC-D568-4EF7-8842-9FA1AE1192C9}">
          <p14:sldIdLst>
            <p14:sldId id="2147479562"/>
            <p14:sldId id="2147479566"/>
            <p14:sldId id="2051"/>
            <p14:sldId id="1660"/>
            <p14:sldId id="1670"/>
            <p14:sldId id="2076137992"/>
            <p14:sldId id="2076137994"/>
            <p14:sldId id="2076137993"/>
            <p14:sldId id="1716"/>
            <p14:sldId id="1524"/>
            <p14:sldId id="2076138187"/>
            <p14:sldId id="2076138188"/>
            <p14:sldId id="2076138189"/>
            <p14:sldId id="2076138190"/>
            <p14:sldId id="2076138191"/>
            <p14:sldId id="2076138203"/>
            <p14:sldId id="2076138105"/>
            <p14:sldId id="2046"/>
            <p14:sldId id="1995"/>
            <p14:sldId id="2147479486"/>
            <p14:sldId id="2147479480"/>
            <p14:sldId id="2147479552"/>
            <p14:sldId id="2147479538"/>
            <p14:sldId id="1941"/>
            <p14:sldId id="2147479481"/>
            <p14:sldId id="2147479482"/>
            <p14:sldId id="2147479483"/>
            <p14:sldId id="2147479484"/>
            <p14:sldId id="2147479485"/>
            <p14:sldId id="2147479564"/>
            <p14:sldId id="2147479565"/>
            <p14:sldId id="1531"/>
            <p14:sldId id="214747952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loop="1" useTimings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  <a:srgbClr val="D7D2CB"/>
    <a:srgbClr val="E8E6DF"/>
    <a:srgbClr val="E1D3C7"/>
    <a:srgbClr val="4EFFFE"/>
    <a:srgbClr val="9BF00E"/>
    <a:srgbClr val="D59DFF"/>
    <a:srgbClr val="7FBA00"/>
    <a:srgbClr val="00A4EF"/>
    <a:srgbClr val="1A6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570" autoAdjust="0"/>
  </p:normalViewPr>
  <p:slideViewPr>
    <p:cSldViewPr snapToGrid="0">
      <p:cViewPr varScale="1">
        <p:scale>
          <a:sx n="97" d="100"/>
          <a:sy n="97" d="100"/>
        </p:scale>
        <p:origin x="1032" y="114"/>
      </p:cViewPr>
      <p:guideLst/>
    </p:cSldViewPr>
  </p:slideViewPr>
  <p:outlineViewPr>
    <p:cViewPr>
      <p:scale>
        <a:sx n="33" d="100"/>
        <a:sy n="33" d="100"/>
      </p:scale>
      <p:origin x="0" y="-1636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728"/>
    </p:cViewPr>
  </p:sorterViewPr>
  <p:notesViewPr>
    <p:cSldViewPr snapToGrid="0" showGuides="1">
      <p:cViewPr varScale="1">
        <p:scale>
          <a:sx n="78" d="100"/>
          <a:sy n="78" d="100"/>
        </p:scale>
        <p:origin x="3108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73" Type="http://schemas.openxmlformats.org/officeDocument/2006/relationships/notesMaster" Target="notesMasters/notesMaster1.xml"/><Relationship Id="rId74" Type="http://schemas.openxmlformats.org/officeDocument/2006/relationships/handoutMaster" Target="handoutMasters/handoutMaster1.xml"/><Relationship Id="rId75" Type="http://schemas.openxmlformats.org/officeDocument/2006/relationships/commentAuthors" Target="commentAuthors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5/29/2026 11:09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5/29/2026 11:09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23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7.jpeg"/><Relationship Id="rId6" Type="http://schemas.openxmlformats.org/officeDocument/2006/relationships/image" Target="../media/image28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jpg"/><Relationship Id="rId3" Type="http://schemas.openxmlformats.org/officeDocument/2006/relationships/image" Target="../media/image31.emf"/><Relationship Id="rId4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1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23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7.jpeg"/><Relationship Id="rId6" Type="http://schemas.openxmlformats.org/officeDocument/2006/relationships/image" Target="../media/image28.jpe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emf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1F197-BBD3-F0CF-61A3-8C722BAA63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5E852628-66D0-63A4-2D1F-5C71AC7C4B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29DE1A84-7895-6C86-55F4-BD33491BA5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E71AD-28C0-A891-7383-A422FAE801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93A7DCC4-90CB-5487-9CD7-96D3ADB377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771300-CAF5-B6B5-CF45-EBEDBBBD5AC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8C97F8FC-6154-33A9-9E6C-1A787DA153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92415-D13E-5E6D-DBFD-80D73DF182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Relationship Id="rId51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9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79.xml"/><Relationship Id="rId31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2.xml"/><Relationship Id="rId34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85.xml"/><Relationship Id="rId37" Type="http://schemas.openxmlformats.org/officeDocument/2006/relationships/slideLayout" Target="../slideLayouts/slideLayout86.xml"/><Relationship Id="rId38" Type="http://schemas.openxmlformats.org/officeDocument/2006/relationships/slideLayout" Target="../slideLayouts/slideLayout87.xml"/><Relationship Id="rId39" Type="http://schemas.openxmlformats.org/officeDocument/2006/relationships/slideLayout" Target="../slideLayouts/slideLayout88.xml"/><Relationship Id="rId40" Type="http://schemas.openxmlformats.org/officeDocument/2006/relationships/slideLayout" Target="../slideLayouts/slideLayout89.xml"/><Relationship Id="rId41" Type="http://schemas.openxmlformats.org/officeDocument/2006/relationships/slideLayout" Target="../slideLayouts/slideLayout90.xml"/><Relationship Id="rId42" Type="http://schemas.openxmlformats.org/officeDocument/2006/relationships/slideLayout" Target="../slideLayouts/slideLayout91.xml"/><Relationship Id="rId43" Type="http://schemas.openxmlformats.org/officeDocument/2006/relationships/slideLayout" Target="../slideLayouts/slideLayout92.xml"/><Relationship Id="rId44" Type="http://schemas.openxmlformats.org/officeDocument/2006/relationships/slideLayout" Target="../slideLayouts/slideLayout93.xml"/><Relationship Id="rId45" Type="http://schemas.openxmlformats.org/officeDocument/2006/relationships/slideLayout" Target="../slideLayouts/slideLayout94.xml"/><Relationship Id="rId46" Type="http://schemas.openxmlformats.org/officeDocument/2006/relationships/slideLayout" Target="../slideLayouts/slideLayout95.xml"/><Relationship Id="rId47" Type="http://schemas.openxmlformats.org/officeDocument/2006/relationships/slideLayout" Target="../slideLayouts/slideLayout96.xml"/><Relationship Id="rId48" Type="http://schemas.openxmlformats.org/officeDocument/2006/relationships/slideLayout" Target="../slideLayouts/slideLayout97.xml"/><Relationship Id="rId49" Type="http://schemas.openxmlformats.org/officeDocument/2006/relationships/slideLayout" Target="../slideLayouts/slideLayout98.xml"/><Relationship Id="rId50" Type="http://schemas.openxmlformats.org/officeDocument/2006/relationships/theme" Target="../theme/theme2.xml"/><Relationship Id="rId51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0F6CBD"/>
                </a:solidFill>
                <a:latin typeface="Segoe UI Semibold"/>
              </a:rPr>
              <a:t>MICROSOFT BUILD 2026  ·  EXPERT MEET-UP  ·  STATION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A1A1A"/>
                </a:solidFill>
                <a:latin typeface="Segoe UI Semibold"/>
              </a:rPr>
              <a:t>Foundry 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595959"/>
                </a:solidFill>
                <a:latin typeface="Segoe UI"/>
              </a:rPr>
              <a:t>Agent Operations &amp; Management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02920"/>
            <a:ext cx="128016" cy="12801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667512"/>
            <a:ext cx="128016" cy="12801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996696"/>
            <a:ext cx="128016" cy="12801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161288"/>
            <a:ext cx="128016" cy="12801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22992" y="667512"/>
            <a:ext cx="128016" cy="12801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22992" y="832104"/>
            <a:ext cx="128016" cy="12801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22992" y="996696"/>
            <a:ext cx="128016" cy="12801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87584" y="502920"/>
            <a:ext cx="128016" cy="12801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87584" y="667512"/>
            <a:ext cx="128016" cy="12801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87584" y="832104"/>
            <a:ext cx="128016" cy="12801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4" y="1161288"/>
            <a:ext cx="128016" cy="12801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52176" y="832104"/>
            <a:ext cx="128016" cy="12801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52176" y="996696"/>
            <a:ext cx="128016" cy="12801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52176" y="1161288"/>
            <a:ext cx="128016" cy="12801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16768" y="502920"/>
            <a:ext cx="128016" cy="128016"/>
          </a:xfrm>
          <a:prstGeom prst="rect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8" y="832104"/>
            <a:ext cx="128016" cy="128016"/>
          </a:xfrm>
          <a:prstGeom prst="rect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16768" y="996696"/>
            <a:ext cx="128016" cy="128016"/>
          </a:xfrm>
          <a:prstGeom prst="rect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0F6CBD"/>
                </a:solidFill>
                <a:latin typeface="Segoe UI Semibold"/>
              </a:rPr>
              <a:t>THE CONTROL PLANE FOR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1325880"/>
            <a:ext cx="82296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1A1A1A"/>
                </a:solidFill>
                <a:latin typeface="Segoe UI Semibold"/>
              </a:rPr>
              <a:t>One pane of glass for your entire agent fleet.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03320"/>
            <a:ext cx="8595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595959"/>
                </a:solidFill>
                <a:latin typeface="Segoe UI"/>
              </a:rPr>
              <a:t>Foundry Control Plane (FCP) is the builder-facing execution and evidence layer. It connects your agents and resources, observes and improves their behavior, and enforces the policies and controls your organization depends on — surfaced in the new Operate tab.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1280160"/>
            <a:ext cx="146304" cy="173736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0F6CBD"/>
                </a:solidFill>
                <a:latin typeface="Segoe UI Semibold"/>
              </a:rPr>
              <a:t>WHAT IT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Segoe UI Semibold"/>
              </a:rPr>
              <a:t>Four pillars, one control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2542032" cy="3383280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2542032" cy="201168"/>
          </a:xfrm>
          <a:prstGeom prst="roundRect">
            <a:avLst>
              <a:gd name="adj" fmla="val 50000"/>
            </a:avLst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697480"/>
            <a:ext cx="20848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F6CBD"/>
                </a:solidFill>
                <a:latin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66160"/>
            <a:ext cx="2039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Segoe UI Semibold"/>
              </a:rPr>
              <a:t>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160520"/>
            <a:ext cx="203911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95959"/>
                </a:solidFill>
                <a:latin typeface="Segoe UI"/>
              </a:rPr>
              <a:t>Traces, evals, and quality &amp; safety signals for every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240280"/>
            <a:ext cx="2542032" cy="3383280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542032" cy="201168"/>
          </a:xfrm>
          <a:prstGeom prst="roundRect">
            <a:avLst>
              <a:gd name="adj" fmla="val 50000"/>
            </a:avLst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2697480"/>
            <a:ext cx="20848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4C7A00"/>
                </a:solidFill>
                <a:latin typeface="Segoe UI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2039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Segoe UI Semibold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160520"/>
            <a:ext cx="203911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95959"/>
                </a:solidFill>
                <a:latin typeface="Segoe UI"/>
              </a:rPr>
              <a:t>Author and enforce policies, guardrails, and alerts across the fleet.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2240280"/>
            <a:ext cx="2542032" cy="3383280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79" y="2240280"/>
            <a:ext cx="2542032" cy="201168"/>
          </a:xfrm>
          <a:prstGeom prst="roundRect">
            <a:avLst>
              <a:gd name="adj" fmla="val 50000"/>
            </a:avLst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697480"/>
            <a:ext cx="20848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C5360F"/>
                </a:solidFill>
                <a:latin typeface="Segoe UI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399" y="3566160"/>
            <a:ext cx="2039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Segoe UI Semibold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399" y="4160520"/>
            <a:ext cx="203911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95959"/>
                </a:solidFill>
                <a:latin typeface="Segoe UI"/>
              </a:rPr>
              <a:t>Runtime guardrails, jailbreak detection, and Defender insights.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999" y="2240280"/>
            <a:ext cx="2542032" cy="3383280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3999" y="2240280"/>
            <a:ext cx="2542032" cy="201168"/>
          </a:xfrm>
          <a:prstGeom prst="roundRect">
            <a:avLst>
              <a:gd name="adj" fmla="val 50000"/>
            </a:avLst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1" y="2697480"/>
            <a:ext cx="20848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8A6300"/>
                </a:solidFill>
                <a:latin typeface="Segoe UI Semi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566160"/>
            <a:ext cx="2039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Segoe UI Semibold"/>
              </a:rPr>
              <a:t>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4160520"/>
            <a:ext cx="203911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95959"/>
                </a:solidFill>
                <a:latin typeface="Segoe UI"/>
              </a:rPr>
              <a:t>Roll up fleet-wide evidence for auditors and regulators.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8A6300"/>
                </a:solidFill>
                <a:latin typeface="Segoe UI Semibold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Segoe UI Semibold"/>
              </a:rPr>
              <a:t>Built for governance 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95727"/>
            <a:ext cx="146304" cy="45720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Segoe UI Semibold"/>
              </a:rPr>
              <a:t>CEO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45535"/>
            <a:ext cx="146304" cy="4572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8152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Segoe UI Semibold"/>
              </a:rPr>
              <a:t>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95344"/>
            <a:ext cx="146304" cy="45720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831335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Segoe UI Semibold"/>
              </a:rPr>
              <a:t>Chief Compliance Officer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645152"/>
            <a:ext cx="146304" cy="4572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58114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Segoe UI Semibold"/>
              </a:rPr>
              <a:t>Regulatory bodies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240280"/>
            <a:ext cx="4800600" cy="3246120"/>
          </a:xfrm>
          <a:prstGeom prst="roundRect">
            <a:avLst>
              <a:gd name="adj" fmla="val 4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2240280"/>
            <a:ext cx="146304" cy="324612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56032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6300"/>
                </a:solidFill>
                <a:latin typeface="Segoe UI Semibold"/>
              </a:rPr>
              <a:t>WHY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71800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1A1A"/>
                </a:solidFill>
                <a:latin typeface="Segoe UI"/>
              </a:rPr>
              <a:t>Agent-specific regulation has arrived — from the EU AI Act onward. Companies must produce compliance evidence across every layer of their agent fleet, and roll it up for compliance officers and regulators in a single 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4C7A00"/>
                </a:solidFill>
                <a:latin typeface="Segoe UI Semibold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Segoe UI Semibold"/>
              </a:rPr>
              <a:t>From author to govern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6888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1" y="2761488"/>
            <a:ext cx="566928" cy="566928"/>
          </a:xfrm>
          <a:prstGeom prst="ellipse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798064"/>
            <a:ext cx="5669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93008"/>
            <a:ext cx="2039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6CBD"/>
                </a:solidFill>
                <a:latin typeface="Segoe UI Semibold"/>
              </a:rPr>
              <a:t>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31920"/>
            <a:ext cx="20391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595959"/>
                </a:solidFill>
                <a:latin typeface="Segoe UI"/>
              </a:rPr>
              <a:t>Create guardrails, policies, and alerts for your fleet.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984" y="2880360"/>
            <a:ext cx="29260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0B0B0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46888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22191" y="2761488"/>
            <a:ext cx="566928" cy="566928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798064"/>
            <a:ext cx="5669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93008"/>
            <a:ext cx="2039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C7A00"/>
                </a:solidFill>
                <a:latin typeface="Segoe UI Semibold"/>
              </a:rPr>
              <a:t>ENFORCE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20391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595959"/>
                </a:solidFill>
                <a:latin typeface="Segoe UI"/>
              </a:rPr>
              <a:t>Apply at runtime with Content Moderation &amp; Agent Shield.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2880360"/>
            <a:ext cx="29260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0B0B0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246888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11112" y="2761488"/>
            <a:ext cx="566928" cy="566928"/>
          </a:xfrm>
          <a:prstGeom prst="ellipse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2798064"/>
            <a:ext cx="5669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399" y="3493008"/>
            <a:ext cx="2039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5360F"/>
                </a:solidFill>
                <a:latin typeface="Segoe UI Semibold"/>
              </a:rPr>
              <a:t>OBSERVE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399" y="3931920"/>
            <a:ext cx="20391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595959"/>
                </a:solidFill>
                <a:latin typeface="Segoe UI"/>
              </a:rPr>
              <a:t>Collect traces, run evals, monitor quality &amp; safety.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2880360"/>
            <a:ext cx="29260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0B0B0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3999" y="246888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00031" y="2761488"/>
            <a:ext cx="566928" cy="566928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1" y="2798064"/>
            <a:ext cx="5669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3493008"/>
            <a:ext cx="2039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8A6300"/>
                </a:solidFill>
                <a:latin typeface="Segoe UI Semibold"/>
              </a:rPr>
              <a:t>GOVERN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3931920"/>
            <a:ext cx="20391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595959"/>
                </a:solidFill>
                <a:latin typeface="Segoe UI"/>
              </a:rPr>
              <a:t>Roll everything up into the FCP dashboard.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57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Segoe UI"/>
              </a:rPr>
              <a:t>Works for Foundry-native agents and open-source / third-party agents alike.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6940B0"/>
                </a:solidFill>
                <a:latin typeface="Segoe UI Semibold"/>
              </a:rPr>
              <a:t>WHERE IT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Segoe UI Semibold"/>
              </a:rPr>
              <a:t>Foundry Control Plane × Agent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5074920" cy="2423160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146304" cy="2423160"/>
          </a:xfrm>
          <a:prstGeom prst="rect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Segoe UI Semibold"/>
              </a:rPr>
              <a:t>Agent 365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6940B0"/>
                </a:solidFill>
                <a:latin typeface="Segoe UI Semibold"/>
              </a:rPr>
              <a:t>ENTERPRISE SYSTEM OF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595959"/>
                </a:solidFill>
                <a:latin typeface="Segoe UI"/>
              </a:rPr>
              <a:t>Fleet-level visibility and governance roll-up across the whole organization.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286000"/>
            <a:ext cx="5074920" cy="2423160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2286000"/>
            <a:ext cx="146304" cy="242316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6060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Segoe UI Semibold"/>
              </a:rPr>
              <a:t>Foundry Control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20040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6CBD"/>
                </a:solidFill>
                <a:latin typeface="Segoe UI Semibold"/>
              </a:rPr>
              <a:t>AGENT-LEVEL EXECUTION &amp;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65760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595959"/>
                </a:solidFill>
                <a:latin typeface="Segoe UI"/>
              </a:rPr>
              <a:t>Traces, evals, runtime guardrails, mediation, and evidence — the four pillars at feature depth.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74920"/>
            <a:ext cx="10561320" cy="822960"/>
          </a:xfrm>
          <a:prstGeom prst="roundRect">
            <a:avLst>
              <a:gd name="adj" fmla="val 18000"/>
            </a:avLst>
          </a:prstGeom>
          <a:solidFill>
            <a:srgbClr val="EEEEF0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10104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Segoe UI Semibold"/>
              </a:rPr>
              <a:t>Integrate, don’t replace — drill down to the agent, roll up to the org.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0F6CBD"/>
                </a:solidFill>
                <a:latin typeface="Segoe UI Semibold"/>
              </a:rPr>
              <a:t>THE OPERATE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Segoe UI Semibold"/>
              </a:rPr>
              <a:t>Your fleet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" y="2107692"/>
            <a:ext cx="7351776" cy="3584695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12700">
            <a:solidFill>
              <a:srgbClr val="D9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erate-overview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8840"/>
            <a:ext cx="7269480" cy="3502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66760" y="2148840"/>
            <a:ext cx="2971800" cy="1060704"/>
          </a:xfrm>
          <a:prstGeom prst="roundRect">
            <a:avLst>
              <a:gd name="adj" fmla="val 8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2148840"/>
            <a:ext cx="128016" cy="106070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2304288"/>
            <a:ext cx="24231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4C7A00"/>
                </a:solidFill>
                <a:latin typeface="Segoe UI Semibold"/>
              </a:rPr>
              <a:t>35 /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2871216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Segoe UI"/>
              </a:rPr>
              <a:t>agents 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360420"/>
            <a:ext cx="2971800" cy="1060704"/>
          </a:xfrm>
          <a:prstGeom prst="roundRect">
            <a:avLst>
              <a:gd name="adj" fmla="val 8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3360420"/>
            <a:ext cx="128016" cy="1060704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515868"/>
            <a:ext cx="24231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6CBD"/>
                </a:solidFill>
                <a:latin typeface="Segoe UI Semibold"/>
              </a:rPr>
              <a:t>$355.05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082796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Segoe UI"/>
              </a:rPr>
              <a:t>estimated cost · 7d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572000"/>
            <a:ext cx="2971800" cy="1060704"/>
          </a:xfrm>
          <a:prstGeom prst="roundRect">
            <a:avLst>
              <a:gd name="adj" fmla="val 8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4572000"/>
            <a:ext cx="128016" cy="1060704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4727448"/>
            <a:ext cx="24231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C5360F"/>
                </a:solidFill>
                <a:latin typeface="Segoe UI Semibold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5294376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Segoe UI"/>
              </a:rPr>
              <a:t>active alerts · 3 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972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Segoe UI"/>
              </a:rPr>
              <a:t>Policy and security alerts ranked by severity — review any alert to jump into the security portal.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5360F"/>
                </a:solidFill>
                <a:latin typeface="Segoe UI Semibold"/>
              </a:rPr>
              <a:t>ASSETS · AGENT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Segoe UI Semibold"/>
              </a:rPr>
              <a:t>Drill down to any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3200400" cy="822960"/>
          </a:xfrm>
          <a:prstGeom prst="roundRect">
            <a:avLst>
              <a:gd name="adj" fmla="val 10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28016" cy="82296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Segoe UI Semibold"/>
              </a:rPr>
              <a:t>Quality &amp; safety evals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00400"/>
            <a:ext cx="3200400" cy="822960"/>
          </a:xfrm>
          <a:prstGeom prst="roundRect">
            <a:avLst>
              <a:gd name="adj" fmla="val 10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200400"/>
            <a:ext cx="128016" cy="82296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Segoe UI Semibold"/>
              </a:rPr>
              <a:t>Time-series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06240"/>
            <a:ext cx="3200400" cy="822960"/>
          </a:xfrm>
          <a:prstGeom prst="roundRect">
            <a:avLst>
              <a:gd name="adj" fmla="val 10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4206240"/>
            <a:ext cx="128016" cy="82296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062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Segoe UI Semibold"/>
              </a:rPr>
              <a:t>Red-teaming built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85231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95959"/>
                </a:solidFill>
                <a:latin typeface="Segoe UI"/>
              </a:rPr>
              <a:t>Per-agent Monitor view — every evaluation tracked over time, so you can spot the day a metric moved.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5091" y="2153412"/>
            <a:ext cx="7260336" cy="354064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12700">
            <a:solidFill>
              <a:srgbClr val="D9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gent-detail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94560"/>
            <a:ext cx="7178040" cy="34583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4C7A00"/>
                </a:solidFill>
                <a:latin typeface="Segoe UI Semibold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Segoe UI Semibold"/>
              </a:rPr>
              <a:t>Your whole fleet — native and beyond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" y="2153412"/>
            <a:ext cx="7534656" cy="3672806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12700">
            <a:solidFill>
              <a:srgbClr val="D9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eet-assets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7452360" cy="35905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2194560"/>
            <a:ext cx="2788920" cy="1371600"/>
          </a:xfrm>
          <a:prstGeom prst="roundRect">
            <a:avLst>
              <a:gd name="adj" fmla="val 7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2194560"/>
            <a:ext cx="2788920" cy="146304"/>
          </a:xfrm>
          <a:prstGeom prst="roundRect">
            <a:avLst>
              <a:gd name="adj" fmla="val 50000"/>
            </a:avLst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2432304"/>
            <a:ext cx="2240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 Semibold"/>
              </a:rPr>
              <a:t>Native + 3P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871216"/>
            <a:ext cx="2221991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95959"/>
                </a:solidFill>
                <a:latin typeface="Segoe UI"/>
              </a:rPr>
              <a:t>Foundry-native and open-source / third-party agents — one fleet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703320"/>
            <a:ext cx="2788920" cy="2084831"/>
          </a:xfrm>
          <a:prstGeom prst="roundRect">
            <a:avLst>
              <a:gd name="adj" fmla="val 70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3703320"/>
            <a:ext cx="146304" cy="2084831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0" y="3995928"/>
            <a:ext cx="365760" cy="365760"/>
          </a:xfrm>
          <a:prstGeom prst="ellipse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0888" y="4014215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5360F"/>
                </a:solidFill>
                <a:latin typeface="Segoe UI Semibold"/>
              </a:rPr>
              <a:t>DEFENDER FOR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544568"/>
            <a:ext cx="224027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A1A"/>
                </a:solidFill>
                <a:latin typeface="Segoe UI"/>
              </a:rPr>
              <a:t>Security recommendations and a risk level for every agent in the fleet.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6940B0"/>
                </a:solidFill>
                <a:latin typeface="Segoe UI Semibold"/>
              </a:rPr>
              <a:t>AT THE BOOTH · BUILD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Segoe UI Semibold"/>
              </a:rPr>
              <a:t>Where to go deeper at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21408"/>
            <a:ext cx="3355848" cy="4114800"/>
          </a:xfrm>
          <a:prstGeom prst="roundRect">
            <a:avLst>
              <a:gd name="adj" fmla="val 45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21408"/>
            <a:ext cx="3355848" cy="182880"/>
          </a:xfrm>
          <a:prstGeom prst="roundRect">
            <a:avLst>
              <a:gd name="adj" fmla="val 50000"/>
            </a:avLst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6CBD"/>
                </a:solidFill>
                <a:latin typeface="Segoe UI Semibold"/>
              </a:rPr>
              <a:t>Observe &amp; Operate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9067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6CBD"/>
                </a:solidFill>
                <a:latin typeface="Segoe UI Semibold"/>
              </a:rPr>
              <a:t>BRK252</a:t>
            </a:r>
            <a:r>
              <a:rPr sz="1050">
                <a:solidFill>
                  <a:srgbClr val="595959"/>
                </a:solidFill>
                <a:latin typeface="Segoe UI"/>
              </a:rPr>
              <a:t>   Breakout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74136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From observability to ROI for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77056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6CBD"/>
                </a:solidFill>
                <a:latin typeface="Segoe UI Semibold"/>
              </a:rPr>
              <a:t>LAB540</a:t>
            </a:r>
            <a:r>
              <a:rPr sz="1050">
                <a:solidFill>
                  <a:srgbClr val="595959"/>
                </a:solidFill>
                <a:latin typeface="Segoe UI"/>
              </a:rPr>
              <a:t>  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60520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Observe, optimize &amp; protect hosted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6344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6CBD"/>
                </a:solidFill>
                <a:latin typeface="Segoe UI Semibold"/>
              </a:rPr>
              <a:t>LTG429</a:t>
            </a:r>
            <a:r>
              <a:rPr sz="1050">
                <a:solidFill>
                  <a:srgbClr val="595959"/>
                </a:solidFill>
                <a:latin typeface="Segoe UI"/>
              </a:rPr>
              <a:t>   Lightning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946904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Debug &amp; operate agents with Azure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449824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6CBD"/>
                </a:solidFill>
                <a:latin typeface="Segoe UI Semibold"/>
              </a:rPr>
              <a:t>LTG451</a:t>
            </a:r>
            <a:r>
              <a:rPr sz="1050">
                <a:solidFill>
                  <a:srgbClr val="595959"/>
                </a:solidFill>
                <a:latin typeface="Segoe UI"/>
              </a:rPr>
              <a:t>   Lightning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733288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Agentic FinOps: cost &amp; quality in Foundry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1124" y="2121408"/>
            <a:ext cx="3355848" cy="4114800"/>
          </a:xfrm>
          <a:prstGeom prst="roundRect">
            <a:avLst>
              <a:gd name="adj" fmla="val 45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21124" y="2121408"/>
            <a:ext cx="3355848" cy="182880"/>
          </a:xfrm>
          <a:prstGeom prst="roundRect">
            <a:avLst>
              <a:gd name="adj" fmla="val 50000"/>
            </a:avLst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5444" y="2487168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4C7A00"/>
                </a:solidFill>
                <a:latin typeface="Segoe UI Semibold"/>
              </a:rPr>
              <a:t>Govern &amp; Control Plane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5444" y="309067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4C7A00"/>
                </a:solidFill>
                <a:latin typeface="Segoe UI Semibold"/>
              </a:rPr>
              <a:t>BRK251</a:t>
            </a:r>
            <a:r>
              <a:rPr sz="1050">
                <a:solidFill>
                  <a:srgbClr val="595959"/>
                </a:solidFill>
                <a:latin typeface="Segoe UI"/>
              </a:rPr>
              <a:t>   Breakout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5444" y="3374136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Secure, enterprise-ready agents w/ Agent 365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5444" y="3877056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4C7A00"/>
                </a:solidFill>
                <a:latin typeface="Segoe UI Semibold"/>
              </a:rPr>
              <a:t>OD840</a:t>
            </a:r>
            <a:r>
              <a:rPr sz="1050">
                <a:solidFill>
                  <a:srgbClr val="595959"/>
                </a:solidFill>
                <a:latin typeface="Segoe UI"/>
              </a:rPr>
              <a:t>   Pre-recorded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5444" y="4160520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Enable enterprise agents w/ Agent 365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5444" y="466344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4C7A00"/>
                </a:solidFill>
                <a:latin typeface="Segoe UI Semibold"/>
              </a:rPr>
              <a:t>OD831</a:t>
            </a:r>
            <a:r>
              <a:rPr sz="1050">
                <a:solidFill>
                  <a:srgbClr val="595959"/>
                </a:solidFill>
                <a:latin typeface="Segoe UI"/>
              </a:rPr>
              <a:t>   Pre-recorded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5444" y="4946904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Govern models, tools &amp; agents with APIM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5444" y="5449824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4C7A00"/>
                </a:solidFill>
                <a:latin typeface="Segoe UI Semibold"/>
              </a:rPr>
              <a:t>LTG467</a:t>
            </a:r>
            <a:r>
              <a:rPr sz="1050">
                <a:solidFill>
                  <a:srgbClr val="595959"/>
                </a:solidFill>
                <a:latin typeface="Segoe UI"/>
              </a:rPr>
              <a:t>   Lightning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5444" y="5733288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Secure AI agents: AI Gateway, tools &amp; trust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2121408"/>
            <a:ext cx="3355848" cy="4114800"/>
          </a:xfrm>
          <a:prstGeom prst="roundRect">
            <a:avLst>
              <a:gd name="adj" fmla="val 4500"/>
            </a:avLst>
          </a:prstGeom>
          <a:solidFill>
            <a:srgbClr val="F5F5F6"/>
          </a:solidFill>
          <a:ln w="9525">
            <a:solidFill>
              <a:srgbClr val="E2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65008" y="2121408"/>
            <a:ext cx="3355848" cy="18288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2487168"/>
            <a:ext cx="28529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6940B0"/>
                </a:solidFill>
                <a:latin typeface="Segoe UI Semibold"/>
              </a:rPr>
              <a:t>Guardrails, Evals &amp; 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309067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6940B0"/>
                </a:solidFill>
                <a:latin typeface="Segoe UI Semibold"/>
              </a:rPr>
              <a:t>BRK250</a:t>
            </a:r>
            <a:r>
              <a:rPr sz="1050">
                <a:solidFill>
                  <a:srgbClr val="595959"/>
                </a:solidFill>
                <a:latin typeface="Segoe UI"/>
              </a:rPr>
              <a:t>   Breakout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3374136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Govern open-source AI agents, any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3877056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6940B0"/>
                </a:solidFill>
                <a:latin typeface="Segoe UI Semibold"/>
              </a:rPr>
              <a:t>LTG430</a:t>
            </a:r>
            <a:r>
              <a:rPr sz="1050">
                <a:solidFill>
                  <a:srgbClr val="595959"/>
                </a:solidFill>
                <a:latin typeface="Segoe UI"/>
              </a:rPr>
              <a:t>   Lightning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4160520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Shield your agents: universal control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66344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6940B0"/>
                </a:solidFill>
                <a:latin typeface="Segoe UI Semibold"/>
              </a:rPr>
              <a:t>TT682</a:t>
            </a:r>
            <a:r>
              <a:rPr sz="1050">
                <a:solidFill>
                  <a:srgbClr val="595959"/>
                </a:solidFill>
                <a:latin typeface="Segoe UI"/>
              </a:rPr>
              <a:t>   Table Talk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4946904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Trusted AI built for 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5449824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6940B0"/>
                </a:solidFill>
                <a:latin typeface="Segoe UI Semibold"/>
              </a:rPr>
              <a:t>DEM369</a:t>
            </a:r>
            <a:r>
              <a:rPr sz="1050">
                <a:solidFill>
                  <a:srgbClr val="595959"/>
                </a:solidFill>
                <a:latin typeface="Segoe UI"/>
              </a:rPr>
              <a:t>  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5733288"/>
            <a:ext cx="28986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A1A1A"/>
                </a:solidFill>
                <a:latin typeface="Segoe UI"/>
              </a:rPr>
              <a:t>Responsible AI: principles to 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04120" y="457200"/>
            <a:ext cx="128016" cy="12801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04120" y="621792"/>
            <a:ext cx="128016" cy="12801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04120" y="950976"/>
            <a:ext cx="128016" cy="12801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04120" y="1115568"/>
            <a:ext cx="128016" cy="12801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68712" y="621792"/>
            <a:ext cx="128016" cy="12801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68712" y="786384"/>
            <a:ext cx="128016" cy="12801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68712" y="950976"/>
            <a:ext cx="128016" cy="12801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33304" y="457200"/>
            <a:ext cx="128016" cy="12801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33304" y="621792"/>
            <a:ext cx="128016" cy="12801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33304" y="786384"/>
            <a:ext cx="128016" cy="12801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33304" y="1115568"/>
            <a:ext cx="128016" cy="12801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7896" y="786384"/>
            <a:ext cx="128016" cy="12801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97896" y="950976"/>
            <a:ext cx="128016" cy="12801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97896" y="1115568"/>
            <a:ext cx="128016" cy="12801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62488" y="457200"/>
            <a:ext cx="128016" cy="128016"/>
          </a:xfrm>
          <a:prstGeom prst="rect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62488" y="786384"/>
            <a:ext cx="128016" cy="128016"/>
          </a:xfrm>
          <a:prstGeom prst="rect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62488" y="950976"/>
            <a:ext cx="128016" cy="128016"/>
          </a:xfrm>
          <a:prstGeom prst="rect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0F6CBD"/>
                </a:solidFill>
                <a:latin typeface="Segoe UI Semibold"/>
              </a:rPr>
              <a:t>FOR THE BOOTH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691640"/>
            <a:ext cx="9052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A1A1A"/>
                </a:solidFill>
                <a:latin typeface="Segoe UI Semibold"/>
              </a:rPr>
              <a:t>When to bring up Foundry Control Plane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383280"/>
            <a:ext cx="1554480" cy="713232"/>
          </a:xfrm>
          <a:prstGeom prst="roundRect">
            <a:avLst>
              <a:gd name="adj" fmla="val 50000"/>
            </a:avLst>
          </a:prstGeom>
          <a:solidFill>
            <a:srgbClr val="EEEEF0"/>
          </a:solidFill>
          <a:ln w="22225">
            <a:solidFill>
              <a:srgbClr val="00A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83280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F6CBD"/>
                </a:solidFill>
                <a:latin typeface="Segoe UI Semibold"/>
              </a:rPr>
              <a:t>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3383280"/>
            <a:ext cx="2240280" cy="713232"/>
          </a:xfrm>
          <a:prstGeom prst="roundRect">
            <a:avLst>
              <a:gd name="adj" fmla="val 50000"/>
            </a:avLst>
          </a:prstGeom>
          <a:solidFill>
            <a:srgbClr val="EEEEF0"/>
          </a:solidFill>
          <a:ln w="22225">
            <a:solidFill>
              <a:srgbClr val="7FB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3383280"/>
            <a:ext cx="2240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4C7A00"/>
                </a:solidFill>
                <a:latin typeface="Segoe UI Semibold"/>
              </a:rPr>
              <a:t>Observability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383280"/>
            <a:ext cx="1828800" cy="713232"/>
          </a:xfrm>
          <a:prstGeom prst="roundRect">
            <a:avLst>
              <a:gd name="adj" fmla="val 50000"/>
            </a:avLst>
          </a:prstGeom>
          <a:solidFill>
            <a:srgbClr val="EEEEF0"/>
          </a:solidFill>
          <a:ln w="22225">
            <a:solidFill>
              <a:srgbClr val="866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383280"/>
            <a:ext cx="1828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940B0"/>
                </a:solidFill>
                <a:latin typeface="Segoe UI Semibold"/>
              </a:rPr>
              <a:t>Governance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59" y="3383280"/>
            <a:ext cx="1554480" cy="713232"/>
          </a:xfrm>
          <a:prstGeom prst="roundRect">
            <a:avLst>
              <a:gd name="adj" fmla="val 50000"/>
            </a:avLst>
          </a:prstGeom>
          <a:solidFill>
            <a:srgbClr val="EEEEF0"/>
          </a:solidFill>
          <a:ln w="22225">
            <a:solidFill>
              <a:srgbClr val="F25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59" y="3383280"/>
            <a:ext cx="1554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5360F"/>
                </a:solidFill>
                <a:latin typeface="Segoe UI Semibold"/>
              </a:rPr>
              <a:t>Security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59" y="3383280"/>
            <a:ext cx="1828800" cy="713232"/>
          </a:xfrm>
          <a:prstGeom prst="roundRect">
            <a:avLst>
              <a:gd name="adj" fmla="val 50000"/>
            </a:avLst>
          </a:prstGeom>
          <a:solidFill>
            <a:srgbClr val="EEEEF0"/>
          </a:solidFill>
          <a:ln w="22225">
            <a:solidFill>
              <a:srgbClr val="FF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59" y="3383280"/>
            <a:ext cx="1828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8A6300"/>
                </a:solidFill>
                <a:latin typeface="Segoe UI Semibold"/>
              </a:rPr>
              <a:t>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5720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95959"/>
                </a:solidFill>
                <a:latin typeface="Segoe UI"/>
              </a:rPr>
              <a:t>When a customer asks about any of these on their agent fleet — Foundry Control Plane is the answer.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373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Microsoft Build 2026  ·  Station 4 — Agent Operations &amp;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37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0F6CBD"/>
                </a:solidFill>
                <a:latin typeface="Segoe UI Semibold"/>
              </a:rPr>
              <a:t>STATION 4  ·  FOUNDRY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9326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A1A1A"/>
                </a:solidFill>
                <a:latin typeface="Segoe UI Semibold"/>
              </a:rPr>
              <a:t>Govern your agent fleet with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1605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6CBD"/>
                </a:solidFill>
                <a:latin typeface="Segoe UI Semibold"/>
              </a:rPr>
              <a:t>Foundry Control Plane</a:t>
            </a:r>
          </a:p>
          <a:p>
            <a:r>
              <a:rPr sz="1600">
                <a:solidFill>
                  <a:srgbClr val="595959"/>
                </a:solidFill>
                <a:latin typeface="Segoe UI"/>
              </a:rPr>
              <a:t>Visit Station 4 at the Microsoft Foundry booth</a:t>
            </a:r>
          </a:p>
        </p:txBody>
      </p:sp>
    </p:spTree>
  </p:cSld>
  <p:clrMapOvr>
    <a:masterClrMapping/>
  </p:clrMapOvr>
  <p:transition spd="med" advClick="1" advTm="9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4008" y="-64008"/>
            <a:ext cx="12316968" cy="6986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ound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841248"/>
            <a:ext cx="583126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7132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Segoe UI Semibold"/>
              </a:rPr>
              <a:t>Microsoft Foundry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1A1A1A"/>
                </a:solidFill>
                <a:latin typeface="Segoe UI Semibold"/>
              </a:rPr>
              <a:t>Survey to provide direct feedback to the product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498348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95959"/>
                </a:solidFill>
                <a:latin typeface="Segoe UI"/>
              </a:rPr>
              <a:t>Scan the QR code to share your feedback on Foundry Control Plane.</a:t>
            </a:r>
          </a:p>
        </p:txBody>
      </p:sp>
      <p:pic>
        <p:nvPicPr>
          <p:cNvPr id="7" name="Picture 6" descr="foundry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417320"/>
            <a:ext cx="3840480" cy="3959013"/>
          </a:xfrm>
          <a:prstGeom prst="rect">
            <a:avLst/>
          </a:prstGeom>
        </p:spPr>
      </p:pic>
    </p:spTree>
  </p:cSld>
  <p:clrMapOvr>
    <a:masterClrMapping/>
  </p:clrMapOvr>
  <p:transition spd="med" advClick="1" advTm="9000">
    <p:fade/>
  </p:transition>
</p:sld>
</file>

<file path=ppt/theme/theme1.xml><?xml version="1.0" encoding="utf-8"?>
<a:theme xmlns:a="http://schemas.openxmlformats.org/drawingml/2006/main" name="Microsoft Build 16:9 Template Light">
  <a:themeElements>
    <a:clrScheme name="Custom 80">
      <a:dk1>
        <a:srgbClr val="000000"/>
      </a:dk1>
      <a:lt1>
        <a:srgbClr val="FFFFFF"/>
      </a:lt1>
      <a:dk2>
        <a:srgbClr val="2A446F"/>
      </a:dk2>
      <a:lt2>
        <a:srgbClr val="D7D2CB"/>
      </a:lt2>
      <a:accent1>
        <a:srgbClr val="00A4EF"/>
      </a:accent1>
      <a:accent2>
        <a:srgbClr val="7FBA00"/>
      </a:accent2>
      <a:accent3>
        <a:srgbClr val="F25022"/>
      </a:accent3>
      <a:accent4>
        <a:srgbClr val="BF9474"/>
      </a:accent4>
      <a:accent5>
        <a:srgbClr val="FFB900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5F1F9044-CA6A-440B-A728-2F8917897A95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9568D0D4-72EB-4CE1-95C9-D12481B11A0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39b48df9-7bcc-48f8-84a5-975ca2e243d0" xsi:nil="true"/>
    <lcf76f155ced4ddcb4097134ff3c332f xmlns="39b48df9-7bcc-48f8-84a5-975ca2e243d0">
      <Terms xmlns="http://schemas.microsoft.com/office/infopath/2007/PartnerControls"/>
    </lcf76f155ced4ddcb4097134ff3c332f>
    <j5610f6f79384a4d92af5d7a6b56e029 xmlns="39b48df9-7bcc-48f8-84a5-975ca2e243d0">
      <Terms xmlns="http://schemas.microsoft.com/office/infopath/2007/PartnerControls"/>
    </j5610f6f79384a4d92af5d7a6b56e029>
    <uvsThumbnailurl xmlns="39b48df9-7bcc-48f8-84a5-975ca2e243d0" xsi:nil="true"/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EC89680E11F64392A775FE1A751122" ma:contentTypeVersion="26" ma:contentTypeDescription="Create a new document." ma:contentTypeScope="" ma:versionID="9969028081730ee97d21bdaac806d38a">
  <xsd:schema xmlns:xsd="http://www.w3.org/2001/XMLSchema" xmlns:xs="http://www.w3.org/2001/XMLSchema" xmlns:p="http://schemas.microsoft.com/office/2006/metadata/properties" xmlns:ns1="http://schemas.microsoft.com/sharepoint/v3" xmlns:ns2="39b48df9-7bcc-48f8-84a5-975ca2e243d0" xmlns:ns3="8acfeebd-d9f0-4ade-ade8-6c6fbcc43572" xmlns:ns4="230e9df3-be65-4c73-a93b-d1236ebd677e" targetNamespace="http://schemas.microsoft.com/office/2006/metadata/properties" ma:root="true" ma:fieldsID="531b72d70252e024ceee9ee87ea63378" ns1:_="" ns2:_="" ns3:_="" ns4:_="">
    <xsd:import namespace="http://schemas.microsoft.com/sharepoint/v3"/>
    <xsd:import namespace="39b48df9-7bcc-48f8-84a5-975ca2e243d0"/>
    <xsd:import namespace="8acfeebd-d9f0-4ade-ade8-6c6fbcc4357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uvsThumbnailur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j5610f6f79384a4d92af5d7a6b56e029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48df9-7bcc-48f8-84a5-975ca2e243d0" elementFormDefault="qualified">
    <xsd:import namespace="http://schemas.microsoft.com/office/2006/documentManagement/types"/>
    <xsd:import namespace="http://schemas.microsoft.com/office/infopath/2007/PartnerControls"/>
    <xsd:element name="uvsThumbnailurl" ma:index="8" nillable="true" ma:displayName="uvsThumbnailurl" ma:format="Dropdown" ma:internalName="uvsThumbnailurl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j5610f6f79384a4d92af5d7a6b56e029" ma:index="28" nillable="true" ma:taxonomy="true" ma:internalName="j5610f6f79384a4d92af5d7a6b56e029" ma:taxonomyFieldName="Metadata" ma:displayName="Metadata" ma:default="" ma:fieldId="{35610f6f-7938-4a4d-92af-5d7a6b56e029}" ma:sspId="e385fb40-52d4-4fae-9c5b-3e8ff8a5878e" ma:termSetId="386095d1-c68d-4c6d-b587-48ddaf1aecc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MediaServiceDocTags" ma:index="29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feebd-d9f0-4ade-ade8-6c6fbcc4357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f082490-e48c-4bba-a917-bf1fc11e5a27}" ma:internalName="TaxCatchAll" ma:showField="CatchAllData" ma:web="8acfeebd-d9f0-4ade-ade8-6c6fbcc435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microsoft.com/sharepoint/v3"/>
    <ds:schemaRef ds:uri="http://purl.org/dc/elements/1.1/"/>
    <ds:schemaRef ds:uri="6a2cddcd-7434-4740-93ff-9eefa0d8931b"/>
    <ds:schemaRef ds:uri="http://schemas.microsoft.com/office/2006/metadata/properties"/>
    <ds:schemaRef ds:uri="4e74c756-a527-4705-9f82-ebb6503e1a84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39b48df9-7bcc-48f8-84a5-975ca2e243d0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468D98C-7056-4B2E-AF35-ADD173A05F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9b48df9-7bcc-48f8-84a5-975ca2e243d0"/>
    <ds:schemaRef ds:uri="8acfeebd-d9f0-4ade-ade8-6c6fbcc4357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Build_2026_16-9 Event-template_v04 (3)_1777482151852001sbDP</Template>
  <TotalTime>0</TotalTime>
  <Words>5955</Words>
  <Application>Microsoft Office PowerPoint</Application>
  <PresentationFormat>Widescreen</PresentationFormat>
  <Paragraphs>899</Paragraphs>
  <Slides>67</Slides>
  <Notes>57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75" baseType="lpstr">
      <vt:lpstr>Arial</vt:lpstr>
      <vt:lpstr>Consolas</vt:lpstr>
      <vt:lpstr>Segoe Sans Display Semibold</vt:lpstr>
      <vt:lpstr>Segoe UI</vt:lpstr>
      <vt:lpstr>Segoe UI Semibold</vt:lpstr>
      <vt:lpstr>Wingdings</vt:lpstr>
      <vt:lpstr>Microsoft Build 16:9 Template Light</vt:lpstr>
      <vt:lpstr>Microsoft Build 16:9 Template Dark</vt:lpstr>
      <vt:lpstr>Microsoft Build</vt:lpstr>
      <vt:lpstr>Event name or  presentation title</vt:lpstr>
      <vt:lpstr>Event name or presentation title</vt:lpstr>
      <vt:lpstr>Agenda</vt:lpstr>
      <vt:lpstr>Text layout without bullet points</vt:lpstr>
      <vt:lpstr>Text layout with bulleted text</vt:lpstr>
      <vt:lpstr>Two text columns with subheads</vt:lpstr>
      <vt:lpstr>Three text columns with subheads</vt:lpstr>
      <vt:lpstr>Four text columns with subheads</vt:lpstr>
      <vt:lpstr>Title square photo layout</vt:lpstr>
      <vt:lpstr>Square photo layout </vt:lpstr>
      <vt:lpstr>Two photos side-by-side layout</vt:lpstr>
      <vt:lpstr>Three photos layout</vt:lpstr>
      <vt:lpstr>Four photos layout</vt:lpstr>
      <vt:lpstr>Four round photos</vt:lpstr>
      <vt:lpstr>Two filmstrip photos</vt:lpstr>
      <vt:lpstr>Five filmstrip photos</vt:lpstr>
      <vt:lpstr>Top photo with title</vt:lpstr>
      <vt:lpstr>Full bleed photo lower title</vt:lpstr>
      <vt:lpstr>Slide palette info</vt:lpstr>
      <vt:lpstr>Close captions clear space</vt:lpstr>
      <vt:lpstr>Ensure slide content is accessible</vt:lpstr>
      <vt:lpstr>Guide for using AI tools</vt:lpstr>
      <vt:lpstr>Microsoft brand colors</vt:lpstr>
      <vt:lpstr>PowerPoint Design Ideas</vt:lpstr>
      <vt:lpstr>Software code layout</vt:lpstr>
      <vt:lpstr>Bottom code layout</vt:lpstr>
      <vt:lpstr>Top code layout</vt:lpstr>
      <vt:lpstr>Right code layout</vt:lpstr>
      <vt:lpstr>Left code layout</vt:lpstr>
      <vt:lpstr>Demo</vt:lpstr>
      <vt:lpstr>Section title</vt:lpstr>
      <vt:lpstr>Notes (hidden)</vt:lpstr>
      <vt:lpstr>Logo</vt:lpstr>
      <vt:lpstr>Microsoft Build</vt:lpstr>
      <vt:lpstr>Event name or  presentation title</vt:lpstr>
      <vt:lpstr>Agenda</vt:lpstr>
      <vt:lpstr>Text layout without bullet points</vt:lpstr>
      <vt:lpstr>Text layout with bulleted text</vt:lpstr>
      <vt:lpstr>Two text columns with subheads</vt:lpstr>
      <vt:lpstr>Three text columns with subheads</vt:lpstr>
      <vt:lpstr>Four text columns with subheads</vt:lpstr>
      <vt:lpstr>Title square photo layout</vt:lpstr>
      <vt:lpstr>Square photo layout </vt:lpstr>
      <vt:lpstr>Two photos side-by-side layout</vt:lpstr>
      <vt:lpstr>Three photos layout</vt:lpstr>
      <vt:lpstr>Four photos layout</vt:lpstr>
      <vt:lpstr>Four round photos</vt:lpstr>
      <vt:lpstr>Two filmstrip photos</vt:lpstr>
      <vt:lpstr>Five filmstrip photos</vt:lpstr>
      <vt:lpstr>Top photo with title</vt:lpstr>
      <vt:lpstr>Full bleed photo lower title</vt:lpstr>
      <vt:lpstr>Slide palette info</vt:lpstr>
      <vt:lpstr>Close captions clear space</vt:lpstr>
      <vt:lpstr>Ensure slide content is accessible</vt:lpstr>
      <vt:lpstr>Guide for using AI tools</vt:lpstr>
      <vt:lpstr>Microsoft brand colors</vt:lpstr>
      <vt:lpstr>PowerPoint Design Ideas</vt:lpstr>
      <vt:lpstr>Software code layout</vt:lpstr>
      <vt:lpstr>Bottom code layout</vt:lpstr>
      <vt:lpstr>Top code layout</vt:lpstr>
      <vt:lpstr>Right code layout</vt:lpstr>
      <vt:lpstr>Left code layout</vt:lpstr>
      <vt:lpstr>Demo</vt:lpstr>
      <vt:lpstr>Section title</vt:lpstr>
      <vt:lpstr>Notes (hidden)</vt:lpstr>
      <vt:lpstr>Microsoft Logo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Microsoft Build</dc:subject>
  <dc:creator>Ben C</dc:creator>
  <cp:keywords>Microsoft Build</cp:keywords>
  <dc:description/>
  <cp:lastModifiedBy>Ben C</cp:lastModifiedBy>
  <cp:revision>1</cp:revision>
  <cp:lastPrinted>2023-02-15T20:48:24Z</cp:lastPrinted>
  <dcterms:created xsi:type="dcterms:W3CDTF">2026-05-29T15:09:59Z</dcterms:created>
  <dcterms:modified xsi:type="dcterms:W3CDTF">2026-05-29T15:10:01Z</dcterms:modified>
  <cp:category>Microsoft Build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0x01010005EC89680E11F64392A775FE1A751122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</Properties>
</file>