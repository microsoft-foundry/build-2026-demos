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447" r:id="rId4"/>
    <p:sldMasterId id="2147485551" r:id="rId5"/>
  </p:sldMasterIdLst>
  <p:notesMasterIdLst>
    <p:notesMasterId r:id="rId19"/>
  </p:notesMasterIdLst>
  <p:handoutMasterIdLst>
    <p:handoutMasterId r:id="rId20"/>
  </p:handoutMasterIdLst>
  <p:sldIdLst>
    <p:sldId id="2147479560" r:id="rId6"/>
    <p:sldId id="2147483542" r:id="rId7"/>
    <p:sldId id="2147483534" r:id="rId8"/>
    <p:sldId id="2147483529" r:id="rId9"/>
    <p:sldId id="2147483525" r:id="rId10"/>
    <p:sldId id="2147483533" r:id="rId11"/>
    <p:sldId id="2147483532" r:id="rId12"/>
    <p:sldId id="2147483537" r:id="rId13"/>
    <p:sldId id="2147483543" r:id="rId14"/>
    <p:sldId id="2147483540" r:id="rId15"/>
    <p:sldId id="2147483541" r:id="rId16"/>
    <p:sldId id="2147483530" r:id="rId17"/>
    <p:sldId id="2147483531" r:id="rId18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Microsoft Build 16:9 Template Dark" id="{5E174FA5-E68B-46F1-90F9-8D8AC2CB06F9}">
          <p14:sldIdLst>
            <p14:sldId id="2147479560"/>
            <p14:sldId id="2147483542"/>
            <p14:sldId id="2147483534"/>
            <p14:sldId id="2147483529"/>
            <p14:sldId id="2147483525"/>
            <p14:sldId id="2147483533"/>
            <p14:sldId id="2147483532"/>
            <p14:sldId id="2147483537"/>
            <p14:sldId id="2147483543"/>
            <p14:sldId id="2147483540"/>
            <p14:sldId id="2147483541"/>
            <p14:sldId id="2147483530"/>
            <p14:sldId id="2147483531"/>
          </p14:sldIdLst>
        </p14:section>
        <p14:section name="Microsoft Build 16:9 Template Light" id="{38B656EC-D568-4EF7-8842-9FA1AE1192C9}">
          <p14:sldIdLst/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EC2613"/>
    <a:srgbClr val="00A5BB"/>
    <a:srgbClr val="D745ED"/>
    <a:srgbClr val="FCE906"/>
    <a:srgbClr val="0078D4"/>
    <a:srgbClr val="D7D2CB"/>
    <a:srgbClr val="E8E6DF"/>
    <a:srgbClr val="E1D3C7"/>
    <a:srgbClr val="4E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E71720C-4EC8-9744-A57E-3B4DD45BD668}" v="630" dt="2026-05-30T05:08:54.8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075" autoAdjust="0"/>
    <p:restoredTop sz="95455" autoAdjust="0"/>
  </p:normalViewPr>
  <p:slideViewPr>
    <p:cSldViewPr snapToGrid="0">
      <p:cViewPr varScale="1">
        <p:scale>
          <a:sx n="142" d="100"/>
          <a:sy n="142" d="100"/>
        </p:scale>
        <p:origin x="448" y="176"/>
      </p:cViewPr>
      <p:guideLst/>
    </p:cSldViewPr>
  </p:slideViewPr>
  <p:outlineViewPr>
    <p:cViewPr>
      <p:scale>
        <a:sx n="33" d="100"/>
        <a:sy n="33" d="100"/>
      </p:scale>
      <p:origin x="0" y="-1636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728"/>
    </p:cViewPr>
  </p:sorterViewPr>
  <p:notesViewPr>
    <p:cSldViewPr snapToGrid="0" showGuides="1">
      <p:cViewPr varScale="1">
        <p:scale>
          <a:sx n="78" d="100"/>
          <a:sy n="78" d="100"/>
        </p:scale>
        <p:origin x="3108" y="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6/1/26 8:39 AM</a:t>
            </a:fld>
            <a:endParaRPr lang="en-US" dirty="0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 dirty="0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6/1/26 8:37 AM</a:t>
            </a:fld>
            <a:endParaRPr lang="en-US" dirty="0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B6DF8-6DF2-20D6-4490-0BA20EF71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7F015AA-E71B-ABF4-AE80-9800E0E68B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1492ECA-F7B3-38BB-476D-92945BB42C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EA55932-D507-95A8-4F63-704C81BC7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48384-68CD-46E0-932A-83402D0765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83393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C42500-F7CF-DD6E-3B13-A632AD8079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EC5C808-C363-9791-1FA2-81D3B72FA8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0B539B-9C5A-6DF3-69BE-1BB3F206BF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DEE700-754E-4064-6A6D-EF714228423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3A48384-68CD-46E0-932A-83402D0765B0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608139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6/1/26 8:39 AM</a:t>
            </a:fld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4736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0DE87-270F-7A0D-9EE8-AE7AEC8B83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CD85F-5E7F-0073-56F8-FCEAB1CB4A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45BCB8D-3B96-1CA8-2278-C5E02DE019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F4D0396-ED30-155A-E003-5C5F4A835C30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56886-717F-F44D-BD4F-40ABC831F4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30A722E-E4F5-3ECB-5035-DC22312AE73E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6/1/26 8:40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15E14-A604-9186-16E1-C9B59F3C15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08367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F61B4-1186-3D50-69ED-796A080A34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1F3CF-592F-3907-AC69-2B8E27D36C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36E979-1350-377B-392C-D03163DA9C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F351B8AE-7E27-CA80-83E5-A702738550D8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638386-C01D-878C-F324-0C1A34CD335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2A268A-ADEC-3BE6-8DF2-37122B5BCB7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6/1/26 8:39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D7FF84-3907-A924-650A-F6B248FE9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7144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1EB0F3-FBAD-EE6C-1624-9AE716700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EAC1F4-716B-87CE-E07D-9BE2969FEC2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8F13348-1D4B-BDB5-DFC1-95F42B1D0C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CF92828-177C-86A8-A9CE-647AC7F9511B}"/>
              </a:ext>
            </a:extLst>
          </p:cNvPr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64468A-A4AF-ACB5-7E8B-E44A3157EEA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  <a:endParaRPr lang="en-US" sz="40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A343F94-87E3-717B-4A18-9E6FA9FF1FCD}"/>
              </a:ext>
            </a:extLst>
          </p:cNvPr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6/1/26 8:39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591C25-FBAD-BCEB-A5DD-8B648D30757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3312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82434-8709-3A5A-669B-385E1C9AA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CF5147-32A2-D33A-B209-5CBC731CDF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507C125-0B0C-B9D1-1875-4736537464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96E095AC-160E-A9B6-389B-C8F9BB4DF582}"/>
              </a:ext>
            </a:extLst>
          </p:cNvPr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AC286-EB01-6EEE-A239-204E2BC5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8FA5E86-A8F1-0F47-5E9A-F4DA2C4A25A8}"/>
              </a:ext>
            </a:extLst>
          </p:cNvPr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2C61DAB-D93E-49CA-B245-379601CFE8D0}" type="datetime8">
              <a:rPr lang="en-US" smtClean="0"/>
              <a:t>6/1/26 8:39 AM</a:t>
            </a:fld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1A06D7-C820-4B41-B093-0F89DEEF71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57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jp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3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jp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3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emf"/><Relationship Id="rId2" Type="http://schemas.openxmlformats.org/officeDocument/2006/relationships/image" Target="../media/image3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8.jp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2.jpg"/><Relationship Id="rId4" Type="http://schemas.openxmlformats.org/officeDocument/2006/relationships/image" Target="../media/image21.jp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3.jpg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jp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3.jpg"/><Relationship Id="rId4" Type="http://schemas.openxmlformats.org/officeDocument/2006/relationships/image" Target="../media/image12.jp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emf"/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61F197-BBD3-F0CF-61A3-8C722BAA63D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  <p:pic>
        <p:nvPicPr>
          <p:cNvPr id="5" name="MS logo gray - EMF" descr="Microsoft logo, gray text version">
            <a:extLst>
              <a:ext uri="{FF2B5EF4-FFF2-40B4-BE49-F238E27FC236}">
                <a16:creationId xmlns:a16="http://schemas.microsoft.com/office/drawing/2014/main" id="{5E852628-66D0-63A4-2D1F-5C71AC7C4B4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829122"/>
      </p:ext>
    </p:extLst>
  </p:cSld>
  <p:clrMapOvr>
    <a:masterClrMapping/>
  </p:clrMapOvr>
  <p:transition advClick="0" advTm="8000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57784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bg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577839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gray - EMF" descr="Microsoft logo, gray text version">
            <a:extLst>
              <a:ext uri="{FF2B5EF4-FFF2-40B4-BE49-F238E27FC236}">
                <a16:creationId xmlns:a16="http://schemas.microsoft.com/office/drawing/2014/main" id="{29DE1A84-7895-6C86-55F4-BD33491BA5C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31385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4F3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970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224827369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6579812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30914654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624214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6131084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689722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11343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5265676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032442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17252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1626746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333449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744721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92596816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6388858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446173974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060561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2848057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432860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122900082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85682386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31357119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991869532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6613830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73682457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010186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83674216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123621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8389390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5728226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721736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5442284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E1D3C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6848616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6576392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6928592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1857840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9864169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5560318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8127639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93E71AD-28C0-A891-7383-A422FAE801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5566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3846281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85359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52602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4519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654741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5056137"/>
      </p:ext>
    </p:extLst>
  </p:cSld>
  <p:clrMapOvr>
    <a:masterClrMapping/>
  </p:clrMapOvr>
  <p:transition advClick="0" advTm="8000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93A7DCC4-90CB-5487-9CD7-96D3ADB3772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7771300-CAF5-B6B5-CF45-EBEDBBBD5AC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 l="2971" t="27592" r="22666" b="8704"/>
          <a:stretch>
            <a:fillRect/>
          </a:stretch>
        </p:blipFill>
        <p:spPr>
          <a:xfrm>
            <a:off x="293688" y="1892300"/>
            <a:ext cx="9066212" cy="436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 advClick="0" advTm="8000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57784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57784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8C97F8FC-6154-33A9-9E6C-1A787DA153C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 dirty="0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 dirty="0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 dirty="0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 dirty="0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Dag &amp; drop your photo here </a:t>
            </a:r>
            <a:br>
              <a:rPr lang="en-US" dirty="0"/>
            </a:br>
            <a:r>
              <a:rPr lang="en-US" dirty="0"/>
              <a:t>or click or tap icon below </a:t>
            </a:r>
            <a:br>
              <a:rPr lang="en-US" dirty="0"/>
            </a:br>
            <a:r>
              <a:rPr lang="en-US" dirty="0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Drag &amp; drop your photo </a:t>
            </a:r>
            <a:br>
              <a:rPr lang="en-US" dirty="0"/>
            </a:br>
            <a:r>
              <a:rPr lang="en-US" dirty="0"/>
              <a:t>here or click or tap icon </a:t>
            </a:r>
            <a:br>
              <a:rPr lang="en-US" dirty="0"/>
            </a:br>
            <a:r>
              <a:rPr lang="en-US" dirty="0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 dirty="0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 dirty="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 dirty="0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 dirty="0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64008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64008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4EFFFE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 dirty="0"/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E92415-D13E-5E6D-DBFD-80D73DF1822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008" r="8017" b="55921"/>
          <a:stretch>
            <a:fillRect/>
          </a:stretch>
        </p:blipFill>
        <p:spPr>
          <a:xfrm flipH="1">
            <a:off x="0" y="3744563"/>
            <a:ext cx="12192000" cy="3113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 dirty="0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 dirty="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advClick="0" advTm="8000">
    <p:fade/>
  </p:transition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 dirty="0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 advClick="0" advTm="8000"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 advClick="0" advTm="8000">
    <p:fade/>
  </p:transition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2.xml"/><Relationship Id="rId18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75.xml"/><Relationship Id="rId39" Type="http://schemas.openxmlformats.org/officeDocument/2006/relationships/slideLayout" Target="../slideLayouts/slideLayout88.xml"/><Relationship Id="rId21" Type="http://schemas.openxmlformats.org/officeDocument/2006/relationships/slideLayout" Target="../slideLayouts/slideLayout70.xml"/><Relationship Id="rId34" Type="http://schemas.openxmlformats.org/officeDocument/2006/relationships/slideLayout" Target="../slideLayouts/slideLayout83.xml"/><Relationship Id="rId42" Type="http://schemas.openxmlformats.org/officeDocument/2006/relationships/slideLayout" Target="../slideLayouts/slideLayout91.xml"/><Relationship Id="rId47" Type="http://schemas.openxmlformats.org/officeDocument/2006/relationships/slideLayout" Target="../slideLayouts/slideLayout96.xml"/><Relationship Id="rId50" Type="http://schemas.openxmlformats.org/officeDocument/2006/relationships/theme" Target="../theme/theme2.xml"/><Relationship Id="rId7" Type="http://schemas.openxmlformats.org/officeDocument/2006/relationships/slideLayout" Target="../slideLayouts/slideLayout56.xml"/><Relationship Id="rId2" Type="http://schemas.openxmlformats.org/officeDocument/2006/relationships/slideLayout" Target="../slideLayouts/slideLayout51.xml"/><Relationship Id="rId16" Type="http://schemas.openxmlformats.org/officeDocument/2006/relationships/slideLayout" Target="../slideLayouts/slideLayout65.xml"/><Relationship Id="rId29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60.xml"/><Relationship Id="rId24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86.xml"/><Relationship Id="rId40" Type="http://schemas.openxmlformats.org/officeDocument/2006/relationships/slideLayout" Target="../slideLayouts/slideLayout89.xml"/><Relationship Id="rId45" Type="http://schemas.openxmlformats.org/officeDocument/2006/relationships/slideLayout" Target="../slideLayouts/slideLayout94.xml"/><Relationship Id="rId5" Type="http://schemas.openxmlformats.org/officeDocument/2006/relationships/slideLayout" Target="../slideLayouts/slideLayout54.xml"/><Relationship Id="rId15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72.xml"/><Relationship Id="rId28" Type="http://schemas.openxmlformats.org/officeDocument/2006/relationships/slideLayout" Target="../slideLayouts/slideLayout77.xml"/><Relationship Id="rId36" Type="http://schemas.openxmlformats.org/officeDocument/2006/relationships/slideLayout" Target="../slideLayouts/slideLayout85.xml"/><Relationship Id="rId49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59.xml"/><Relationship Id="rId19" Type="http://schemas.openxmlformats.org/officeDocument/2006/relationships/slideLayout" Target="../slideLayouts/slideLayout68.xml"/><Relationship Id="rId31" Type="http://schemas.openxmlformats.org/officeDocument/2006/relationships/slideLayout" Target="../slideLayouts/slideLayout80.xml"/><Relationship Id="rId44" Type="http://schemas.openxmlformats.org/officeDocument/2006/relationships/slideLayout" Target="../slideLayouts/slideLayout93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71.xml"/><Relationship Id="rId27" Type="http://schemas.openxmlformats.org/officeDocument/2006/relationships/slideLayout" Target="../slideLayouts/slideLayout76.xml"/><Relationship Id="rId30" Type="http://schemas.openxmlformats.org/officeDocument/2006/relationships/slideLayout" Target="../slideLayouts/slideLayout79.xml"/><Relationship Id="rId35" Type="http://schemas.openxmlformats.org/officeDocument/2006/relationships/slideLayout" Target="../slideLayouts/slideLayout84.xml"/><Relationship Id="rId43" Type="http://schemas.openxmlformats.org/officeDocument/2006/relationships/slideLayout" Target="../slideLayouts/slideLayout92.xml"/><Relationship Id="rId48" Type="http://schemas.openxmlformats.org/officeDocument/2006/relationships/slideLayout" Target="../slideLayouts/slideLayout97.xml"/><Relationship Id="rId8" Type="http://schemas.openxmlformats.org/officeDocument/2006/relationships/slideLayout" Target="../slideLayouts/slideLayout57.xml"/><Relationship Id="rId51" Type="http://schemas.openxmlformats.org/officeDocument/2006/relationships/image" Target="../media/image1.svg"/><Relationship Id="rId3" Type="http://schemas.openxmlformats.org/officeDocument/2006/relationships/slideLayout" Target="../slideLayouts/slideLayout52.xml"/><Relationship Id="rId12" Type="http://schemas.openxmlformats.org/officeDocument/2006/relationships/slideLayout" Target="../slideLayouts/slideLayout61.xml"/><Relationship Id="rId17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82.xml"/><Relationship Id="rId38" Type="http://schemas.openxmlformats.org/officeDocument/2006/relationships/slideLayout" Target="../slideLayouts/slideLayout87.xml"/><Relationship Id="rId46" Type="http://schemas.openxmlformats.org/officeDocument/2006/relationships/slideLayout" Target="../slideLayouts/slideLayout95.xml"/><Relationship Id="rId20" Type="http://schemas.openxmlformats.org/officeDocument/2006/relationships/slideLayout" Target="../slideLayouts/slideLayout69.xml"/><Relationship Id="rId41" Type="http://schemas.openxmlformats.org/officeDocument/2006/relationships/slideLayout" Target="../slideLayouts/slideLayout90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689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7" r:id="rId1"/>
    <p:sldLayoutId id="2147485450" r:id="rId2"/>
    <p:sldLayoutId id="2147485451" r:id="rId3"/>
    <p:sldLayoutId id="2147485452" r:id="rId4"/>
    <p:sldLayoutId id="2147485453" r:id="rId5"/>
    <p:sldLayoutId id="2147485454" r:id="rId6"/>
    <p:sldLayoutId id="2147485455" r:id="rId7"/>
    <p:sldLayoutId id="2147485456" r:id="rId8"/>
    <p:sldLayoutId id="2147485457" r:id="rId9"/>
    <p:sldLayoutId id="2147485458" r:id="rId10"/>
    <p:sldLayoutId id="2147485459" r:id="rId11"/>
    <p:sldLayoutId id="2147485460" r:id="rId12"/>
    <p:sldLayoutId id="2147485461" r:id="rId13"/>
    <p:sldLayoutId id="2147485462" r:id="rId14"/>
    <p:sldLayoutId id="2147485463" r:id="rId15"/>
    <p:sldLayoutId id="2147485464" r:id="rId16"/>
    <p:sldLayoutId id="2147485465" r:id="rId17"/>
    <p:sldLayoutId id="2147485466" r:id="rId18"/>
    <p:sldLayoutId id="2147485467" r:id="rId19"/>
    <p:sldLayoutId id="2147485468" r:id="rId20"/>
    <p:sldLayoutId id="2147485469" r:id="rId21"/>
    <p:sldLayoutId id="2147485470" r:id="rId22"/>
    <p:sldLayoutId id="2147485471" r:id="rId23"/>
    <p:sldLayoutId id="2147485472" r:id="rId24"/>
    <p:sldLayoutId id="2147485473" r:id="rId25"/>
    <p:sldLayoutId id="2147485474" r:id="rId26"/>
    <p:sldLayoutId id="2147485475" r:id="rId27"/>
    <p:sldLayoutId id="2147485476" r:id="rId28"/>
    <p:sldLayoutId id="2147485477" r:id="rId29"/>
    <p:sldLayoutId id="2147485478" r:id="rId30"/>
    <p:sldLayoutId id="2147485479" r:id="rId31"/>
    <p:sldLayoutId id="2147485480" r:id="rId32"/>
    <p:sldLayoutId id="2147485481" r:id="rId33"/>
    <p:sldLayoutId id="2147485482" r:id="rId34"/>
    <p:sldLayoutId id="2147485483" r:id="rId35"/>
    <p:sldLayoutId id="2147485484" r:id="rId36"/>
    <p:sldLayoutId id="2147485485" r:id="rId37"/>
    <p:sldLayoutId id="2147485486" r:id="rId38"/>
    <p:sldLayoutId id="2147485487" r:id="rId39"/>
    <p:sldLayoutId id="2147485488" r:id="rId40"/>
    <p:sldLayoutId id="2147485489" r:id="rId41"/>
    <p:sldLayoutId id="2147485490" r:id="rId42"/>
    <p:sldLayoutId id="2147485491" r:id="rId43"/>
    <p:sldLayoutId id="2147485492" r:id="rId44"/>
    <p:sldLayoutId id="2147485493" r:id="rId45"/>
    <p:sldLayoutId id="2147485494" r:id="rId46"/>
    <p:sldLayoutId id="2147485495" r:id="rId47"/>
    <p:sldLayoutId id="2147485496" r:id="rId48"/>
    <p:sldLayoutId id="2147485603" r:id="rId49"/>
  </p:sldLayoutIdLst>
  <p:transition advClick="0" advTm="8000"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 dirty="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</p:sldLayoutIdLst>
  <p:transition advClick="0" advTm="8000"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9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9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1.xml"/><Relationship Id="rId4" Type="http://schemas.openxmlformats.org/officeDocument/2006/relationships/image" Target="../media/image3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9D57F-076E-AA58-BDFF-8F3981582F13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588263" y="-630197"/>
            <a:ext cx="11018520" cy="553998"/>
          </a:xfrm>
        </p:spPr>
        <p:txBody>
          <a:bodyPr/>
          <a:lstStyle/>
          <a:p>
            <a:r>
              <a:rPr lang="en-US" dirty="0">
                <a:noFill/>
              </a:rPr>
              <a:t>Microsoft Build</a:t>
            </a:r>
          </a:p>
        </p:txBody>
      </p:sp>
    </p:spTree>
    <p:extLst>
      <p:ext uri="{BB962C8B-B14F-4D97-AF65-F5344CB8AC3E}">
        <p14:creationId xmlns:p14="http://schemas.microsoft.com/office/powerpoint/2010/main" val="1170936702"/>
      </p:ext>
    </p:extLst>
  </p:cSld>
  <p:clrMapOvr>
    <a:masterClrMapping/>
  </p:clrMapOvr>
  <p:transition advClick="0" advTm="80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587BA9-5A80-3F66-8EBC-3DB36596AD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215" y="2146826"/>
            <a:ext cx="7632809" cy="1384995"/>
          </a:xfrm>
        </p:spPr>
        <p:txBody>
          <a:bodyPr/>
          <a:lstStyle/>
          <a:p>
            <a:r>
              <a:rPr lang="en-US" sz="5000" dirty="0"/>
              <a:t>Fine-tuning &amp; adaption</a:t>
            </a:r>
          </a:p>
        </p:txBody>
      </p:sp>
    </p:spTree>
    <p:extLst>
      <p:ext uri="{BB962C8B-B14F-4D97-AF65-F5344CB8AC3E}">
        <p14:creationId xmlns:p14="http://schemas.microsoft.com/office/powerpoint/2010/main" val="3307292884"/>
      </p:ext>
    </p:extLst>
  </p:cSld>
  <p:clrMapOvr>
    <a:masterClrMapping/>
  </p:clrMapOvr>
  <p:transition advClick="0" advTm="80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98794A-5DE0-97CF-DC6D-482B13AC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2918224"/>
            <a:ext cx="8907041" cy="615553"/>
          </a:xfrm>
        </p:spPr>
        <p:txBody>
          <a:bodyPr/>
          <a:lstStyle/>
          <a:p>
            <a:pPr fontAlgn="t"/>
            <a:r>
              <a:rPr lang="en-US" dirty="0"/>
              <a:t>Turn real usage into better agents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58117-D3B0-C290-8939-01F451C213E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84200" y="3962399"/>
            <a:ext cx="8907040" cy="1231106"/>
          </a:xfrm>
        </p:spPr>
        <p:txBody>
          <a:bodyPr/>
          <a:lstStyle/>
          <a:p>
            <a:pPr fontAlgn="t">
              <a:lnSpc>
                <a:spcPts val="3200"/>
              </a:lnSpc>
              <a:spcBef>
                <a:spcPts val="600"/>
              </a:spcBef>
            </a:pPr>
            <a:r>
              <a:rPr lang="en-US" sz="2400" dirty="0"/>
              <a:t>Fine‑tuning, distillation, and reinforcement learning transform production traces into continuously improving models; delivering higher quality, lower cost, and more reliable agents over time.</a:t>
            </a:r>
            <a:endParaRPr lang="en-US" sz="2500" dirty="0"/>
          </a:p>
        </p:txBody>
      </p:sp>
    </p:spTree>
    <p:extLst>
      <p:ext uri="{BB962C8B-B14F-4D97-AF65-F5344CB8AC3E}">
        <p14:creationId xmlns:p14="http://schemas.microsoft.com/office/powerpoint/2010/main" val="4121053622"/>
      </p:ext>
    </p:extLst>
  </p:cSld>
  <p:clrMapOvr>
    <a:masterClrMapping/>
  </p:clrMapOvr>
  <p:transition advClick="0" advTm="8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8859DC9-C1C4-081F-BDD7-66870D41FB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Sessions</a:t>
            </a:r>
          </a:p>
        </p:txBody>
      </p:sp>
    </p:spTree>
    <p:extLst>
      <p:ext uri="{BB962C8B-B14F-4D97-AF65-F5344CB8AC3E}">
        <p14:creationId xmlns:p14="http://schemas.microsoft.com/office/powerpoint/2010/main" val="887311224"/>
      </p:ext>
    </p:extLst>
  </p:cSld>
  <p:clrMapOvr>
    <a:masterClrMapping/>
  </p:clrMapOvr>
  <p:transition advClick="0" advTm="8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4BBD7-7934-75AD-39AB-61BAA2A993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2">
            <a:extLst>
              <a:ext uri="{FF2B5EF4-FFF2-40B4-BE49-F238E27FC236}">
                <a16:creationId xmlns:a16="http://schemas.microsoft.com/office/drawing/2014/main" id="{3513D941-CF2D-0CCA-7D23-40CB97B0CC40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 bwMode="auto">
          <a:xfrm>
            <a:off x="2964330" y="1027343"/>
            <a:ext cx="6401991" cy="590217"/>
          </a:xfrm>
          <a:prstGeom prst="roundRect">
            <a:avLst>
              <a:gd name="adj" fmla="val 27713"/>
            </a:avLst>
          </a:prstGeom>
          <a:gradFill flip="none" rotWithShape="1">
            <a:gsLst>
              <a:gs pos="80000">
                <a:srgbClr val="00A5BB"/>
              </a:gs>
              <a:gs pos="0">
                <a:srgbClr val="FCE906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137160" tIns="27432" rIns="137160" bIns="54864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28" fontAlgn="base">
              <a:spcAft>
                <a:spcPct val="0"/>
              </a:spcAft>
              <a:tabLst>
                <a:tab pos="1115369" algn="l"/>
              </a:tabLst>
            </a:pPr>
            <a:r>
              <a:rPr lang="en-US" sz="2700" b="1" spc="0" dirty="0">
                <a:solidFill>
                  <a:schemeClr val="bg1"/>
                </a:solidFill>
                <a:latin typeface="Segoe UI Variable Display Semib" pitchFamily="2" charset="0"/>
              </a:rPr>
              <a:t>Breakout, Lab &amp; Demo sessions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AF0BD63-331B-1ECF-C9C1-787FF51CEE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9015642"/>
              </p:ext>
            </p:extLst>
          </p:nvPr>
        </p:nvGraphicFramePr>
        <p:xfrm>
          <a:off x="393539" y="2166989"/>
          <a:ext cx="10741307" cy="442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9085">
                  <a:extLst>
                    <a:ext uri="{9D8B030D-6E8A-4147-A177-3AD203B41FA5}">
                      <a16:colId xmlns:a16="http://schemas.microsoft.com/office/drawing/2014/main" val="3578726739"/>
                    </a:ext>
                  </a:extLst>
                </a:gridCol>
                <a:gridCol w="5411553">
                  <a:extLst>
                    <a:ext uri="{9D8B030D-6E8A-4147-A177-3AD203B41FA5}">
                      <a16:colId xmlns:a16="http://schemas.microsoft.com/office/drawing/2014/main" val="3035375897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1714154667"/>
                    </a:ext>
                  </a:extLst>
                </a:gridCol>
                <a:gridCol w="1921398">
                  <a:extLst>
                    <a:ext uri="{9D8B030D-6E8A-4147-A177-3AD203B41FA5}">
                      <a16:colId xmlns:a16="http://schemas.microsoft.com/office/drawing/2014/main" val="3825551356"/>
                    </a:ext>
                  </a:extLst>
                </a:gridCol>
              </a:tblGrid>
              <a:tr h="14202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LAB521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sng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Improving agent behavior using reinforcement learning from traces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Tue,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Jun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 2</a:t>
                      </a:r>
                    </a:p>
                    <a:p>
                      <a:pPr algn="l" fontAlgn="b">
                        <a:buNone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12:30 PM - 1:45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Gateway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Pavilion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Level 1, Lab 1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3981675"/>
                  </a:ext>
                </a:extLst>
              </a:tr>
              <a:tr h="1504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BRK231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sng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Deploy. Observe. Learn. Reinforcement learning for production agents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Tue, Jun 2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3:45 PM - 4:30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Festival </a:t>
                      </a:r>
                      <a:r>
                        <a:rPr lang="fr-FR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Pavilion</a:t>
                      </a: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  <a:r>
                        <a:rPr lang="fr-FR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Breakout</a:t>
                      </a: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2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0001857"/>
                  </a:ext>
                </a:extLst>
              </a:tr>
              <a:tr h="1504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LTG418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sng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Smarter training patterns for better AI models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Tue, Jun 2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4:30 PM - 4:45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Gateway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Pavilion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Level 2, Theater 3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2557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76AB54-3507-76F3-ADF4-74BE638FDF80}"/>
              </a:ext>
            </a:extLst>
          </p:cNvPr>
          <p:cNvSpPr txBox="1"/>
          <p:nvPr/>
        </p:nvSpPr>
        <p:spPr>
          <a:xfrm>
            <a:off x="9496802" y="939065"/>
            <a:ext cx="115977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99354" fontAlgn="base">
              <a:spcBef>
                <a:spcPct val="0"/>
              </a:spcBef>
              <a:spcAft>
                <a:spcPct val="0"/>
              </a:spcAft>
            </a:pPr>
            <a:r>
              <a:rPr lang="en-US" sz="750">
                <a:solidFill>
                  <a:schemeClr val="bg1"/>
                </a:solidFill>
              </a:rPr>
              <a:t>Microsoft Confidential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32B6C878-48A4-81C1-0FFF-55C5628D012D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 bwMode="auto">
          <a:xfrm>
            <a:off x="287022" y="1813588"/>
            <a:ext cx="1514711" cy="353401"/>
          </a:xfrm>
          <a:prstGeom prst="roundRect">
            <a:avLst>
              <a:gd name="adj" fmla="val 27713"/>
            </a:avLst>
          </a:prstGeom>
          <a:gradFill flip="none" rotWithShape="1">
            <a:gsLst>
              <a:gs pos="80000">
                <a:srgbClr val="00A5BB"/>
              </a:gs>
              <a:gs pos="0">
                <a:srgbClr val="FCE906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137160" tIns="27432" rIns="137160" bIns="54864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28" fontAlgn="base">
              <a:spcAft>
                <a:spcPct val="0"/>
              </a:spcAft>
              <a:tabLst>
                <a:tab pos="1115369" algn="l"/>
              </a:tabLst>
            </a:pPr>
            <a:r>
              <a:rPr lang="en-US" sz="1400" b="1" spc="0" dirty="0">
                <a:solidFill>
                  <a:schemeClr val="bg1"/>
                </a:solidFill>
                <a:latin typeface="Segoe UI Variable Display Semib" pitchFamily="2" charset="0"/>
              </a:rPr>
              <a:t>Day 1</a:t>
            </a:r>
          </a:p>
        </p:txBody>
      </p:sp>
    </p:spTree>
    <p:extLst>
      <p:ext uri="{BB962C8B-B14F-4D97-AF65-F5344CB8AC3E}">
        <p14:creationId xmlns:p14="http://schemas.microsoft.com/office/powerpoint/2010/main" val="3100905477"/>
      </p:ext>
    </p:extLst>
  </p:cSld>
  <p:clrMapOvr>
    <a:masterClrMapping/>
  </p:clrMapOvr>
  <p:transition advClick="0" advTm="80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40B2A-0951-371B-0E38-9A2AEB0AC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2">
            <a:extLst>
              <a:ext uri="{FF2B5EF4-FFF2-40B4-BE49-F238E27FC236}">
                <a16:creationId xmlns:a16="http://schemas.microsoft.com/office/drawing/2014/main" id="{F8E369EE-A8C4-AD85-4810-BCBC522D4E77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 bwMode="auto">
          <a:xfrm>
            <a:off x="287021" y="1809951"/>
            <a:ext cx="1514711" cy="353401"/>
          </a:xfrm>
          <a:prstGeom prst="roundRect">
            <a:avLst>
              <a:gd name="adj" fmla="val 27713"/>
            </a:avLst>
          </a:prstGeom>
          <a:gradFill flip="none" rotWithShape="1">
            <a:gsLst>
              <a:gs pos="80000">
                <a:srgbClr val="00A5BB"/>
              </a:gs>
              <a:gs pos="0">
                <a:srgbClr val="D745E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137160" tIns="27432" rIns="137160" bIns="54864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28" fontAlgn="base">
              <a:spcAft>
                <a:spcPct val="0"/>
              </a:spcAft>
              <a:tabLst>
                <a:tab pos="1115369" algn="l"/>
              </a:tabLst>
            </a:pPr>
            <a:r>
              <a:rPr lang="en-US" sz="1400" b="1" spc="0" dirty="0">
                <a:solidFill>
                  <a:schemeClr val="bg1"/>
                </a:solidFill>
                <a:latin typeface="Segoe UI Variable Display Semib" pitchFamily="2" charset="0"/>
              </a:rPr>
              <a:t>Day 2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E37ABCB-476C-7532-EFD3-1D3FE89A0BF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 txBox="1">
            <a:spLocks/>
          </p:cNvSpPr>
          <p:nvPr/>
        </p:nvSpPr>
        <p:spPr bwMode="auto">
          <a:xfrm>
            <a:off x="2964329" y="1031364"/>
            <a:ext cx="6401991" cy="590217"/>
          </a:xfrm>
          <a:prstGeom prst="roundRect">
            <a:avLst>
              <a:gd name="adj" fmla="val 27713"/>
            </a:avLst>
          </a:prstGeom>
          <a:gradFill flip="none" rotWithShape="1">
            <a:gsLst>
              <a:gs pos="80000">
                <a:srgbClr val="00A5BB"/>
              </a:gs>
              <a:gs pos="0">
                <a:srgbClr val="D745ED"/>
              </a:gs>
            </a:gsLst>
            <a:path path="circle">
              <a:fillToRect l="100000" t="100000"/>
            </a:path>
            <a:tileRect r="-100000" b="-100000"/>
          </a:gradFill>
        </p:spPr>
        <p:txBody>
          <a:bodyPr vert="horz" wrap="square" lIns="137160" tIns="27432" rIns="137160" bIns="54864" rtlCol="0" anchor="ctr" anchorCtr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1800" b="0" kern="1200" cap="none" spc="-50" baseline="0">
                <a:ln w="3175">
                  <a:noFill/>
                </a:ln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685828" fontAlgn="base">
              <a:spcAft>
                <a:spcPct val="0"/>
              </a:spcAft>
              <a:tabLst>
                <a:tab pos="1115369" algn="l"/>
              </a:tabLst>
            </a:pPr>
            <a:r>
              <a:rPr lang="en-US" sz="2700" b="1" spc="0" dirty="0">
                <a:solidFill>
                  <a:schemeClr val="bg1"/>
                </a:solidFill>
                <a:latin typeface="Segoe UI Variable Display Semib" pitchFamily="2" charset="0"/>
              </a:rPr>
              <a:t>Breakout, Lab &amp; Demo sessions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787E66A5-9BE1-C828-4E3E-F29DCCDA02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890151"/>
              </p:ext>
            </p:extLst>
          </p:nvPr>
        </p:nvGraphicFramePr>
        <p:xfrm>
          <a:off x="393539" y="2166989"/>
          <a:ext cx="10741307" cy="44295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29085">
                  <a:extLst>
                    <a:ext uri="{9D8B030D-6E8A-4147-A177-3AD203B41FA5}">
                      <a16:colId xmlns:a16="http://schemas.microsoft.com/office/drawing/2014/main" val="3578726739"/>
                    </a:ext>
                  </a:extLst>
                </a:gridCol>
                <a:gridCol w="5411553">
                  <a:extLst>
                    <a:ext uri="{9D8B030D-6E8A-4147-A177-3AD203B41FA5}">
                      <a16:colId xmlns:a16="http://schemas.microsoft.com/office/drawing/2014/main" val="3035375897"/>
                    </a:ext>
                  </a:extLst>
                </a:gridCol>
                <a:gridCol w="1979271">
                  <a:extLst>
                    <a:ext uri="{9D8B030D-6E8A-4147-A177-3AD203B41FA5}">
                      <a16:colId xmlns:a16="http://schemas.microsoft.com/office/drawing/2014/main" val="1714154667"/>
                    </a:ext>
                  </a:extLst>
                </a:gridCol>
                <a:gridCol w="1921398">
                  <a:extLst>
                    <a:ext uri="{9D8B030D-6E8A-4147-A177-3AD203B41FA5}">
                      <a16:colId xmlns:a16="http://schemas.microsoft.com/office/drawing/2014/main" val="3825551356"/>
                    </a:ext>
                  </a:extLst>
                </a:gridCol>
              </a:tblGrid>
              <a:tr h="1420272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BRKSP91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en-US" sz="1800" b="0" i="0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Turn foundation models into production AI on Microsoft Foundry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Wed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Jun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 3</a:t>
                      </a:r>
                    </a:p>
                    <a:p>
                      <a:pPr lvl="0" algn="l">
                        <a:buNone/>
                      </a:pPr>
                      <a:endParaRPr lang="nn-NO" sz="15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Segoe UI"/>
                      </a:endParaRPr>
                    </a:p>
                    <a:p>
                      <a:pPr lvl="0" algn="l">
                        <a:buNone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11:30 AM - 12:15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lvl="0" indent="0" algn="l" defTabSz="932742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Festival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Pavilion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Breakout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 3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63981675"/>
                  </a:ext>
                </a:extLst>
              </a:tr>
              <a:tr h="1504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DEM322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Smaller, faster, smarter: Distilling models with fine‑tuning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Wed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Jun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 3</a:t>
                      </a:r>
                    </a:p>
                    <a:p>
                      <a:pPr algn="l" fontAlgn="b">
                        <a:buNone/>
                      </a:pPr>
                      <a:endParaRPr lang="nn-NO" sz="15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12:20 PM - 12:45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Gateway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Pavilion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Level 2, Theater C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560001857"/>
                  </a:ext>
                </a:extLst>
              </a:tr>
              <a:tr h="150461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LAB521-R1</a:t>
                      </a:r>
                    </a:p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LAB521-R2</a:t>
                      </a:r>
                    </a:p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LAB521-R3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800" b="0" i="0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Improving agent behavior using reinforcement learning from traces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Wed</a:t>
                      </a: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Jun 3</a:t>
                      </a:r>
                    </a:p>
                    <a:p>
                      <a:pPr algn="l" fontAlgn="b">
                        <a:buNone/>
                      </a:pPr>
                      <a:endParaRPr lang="fr-FR" sz="15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9:00 AM - 10:15 AM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1:15 PM - 2:30 PM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4:45 PM - 6:00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Gateway </a:t>
                      </a:r>
                      <a:r>
                        <a:rPr lang="nn-NO" sz="15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Pavilion</a:t>
                      </a:r>
                      <a:r>
                        <a:rPr lang="nn-NO" sz="15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Level 1, Lab 1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223255769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329CA17D-996B-A834-7AAA-B79B127A1DF5}"/>
              </a:ext>
            </a:extLst>
          </p:cNvPr>
          <p:cNvSpPr txBox="1"/>
          <p:nvPr/>
        </p:nvSpPr>
        <p:spPr>
          <a:xfrm>
            <a:off x="9496802" y="939065"/>
            <a:ext cx="1159777" cy="207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699354" fontAlgn="base">
              <a:spcBef>
                <a:spcPct val="0"/>
              </a:spcBef>
              <a:spcAft>
                <a:spcPct val="0"/>
              </a:spcAft>
            </a:pPr>
            <a:r>
              <a:rPr lang="en-US" sz="750" dirty="0">
                <a:solidFill>
                  <a:schemeClr val="bg1"/>
                </a:solidFill>
              </a:rPr>
              <a:t>Microsoft Confidential</a:t>
            </a:r>
          </a:p>
        </p:txBody>
      </p:sp>
    </p:spTree>
    <p:extLst>
      <p:ext uri="{BB962C8B-B14F-4D97-AF65-F5344CB8AC3E}">
        <p14:creationId xmlns:p14="http://schemas.microsoft.com/office/powerpoint/2010/main" val="2707387654"/>
      </p:ext>
    </p:extLst>
  </p:cSld>
  <p:clrMapOvr>
    <a:masterClrMapping/>
  </p:clrMapOvr>
  <p:transition advClick="0" advTm="80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053464-C346-6360-1314-50ED339B88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6E4AE4E-40DA-86CF-273B-4D83FCEBF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Highlights</a:t>
            </a:r>
          </a:p>
        </p:txBody>
      </p:sp>
    </p:spTree>
    <p:extLst>
      <p:ext uri="{BB962C8B-B14F-4D97-AF65-F5344CB8AC3E}">
        <p14:creationId xmlns:p14="http://schemas.microsoft.com/office/powerpoint/2010/main" val="4144639188"/>
      </p:ext>
    </p:extLst>
  </p:cSld>
  <p:clrMapOvr>
    <a:masterClrMapping/>
  </p:clrMapOvr>
  <p:transition advClick="0" advTm="80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04AC7-868B-A285-9A55-07691ECA5B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5C8CAC6-9574-5433-1C7F-3B006764F2FB}"/>
              </a:ext>
            </a:extLst>
          </p:cNvPr>
          <p:cNvSpPr/>
          <p:nvPr/>
        </p:nvSpPr>
        <p:spPr bwMode="auto">
          <a:xfrm>
            <a:off x="92599" y="0"/>
            <a:ext cx="9792182" cy="6858000"/>
          </a:xfrm>
          <a:prstGeom prst="rect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C866D4-1FEB-B5D1-A85C-4848F9400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69" y="443471"/>
            <a:ext cx="10318137" cy="1249573"/>
          </a:xfrm>
        </p:spPr>
        <p:txBody>
          <a:bodyPr/>
          <a:lstStyle/>
          <a:p>
            <a:pPr fontAlgn="t">
              <a:lnSpc>
                <a:spcPct val="140000"/>
              </a:lnSpc>
              <a:spcBef>
                <a:spcPts val="1800"/>
              </a:spcBef>
            </a:pPr>
            <a:r>
              <a:rPr lang="en-US" dirty="0"/>
              <a:t>Turn usage into learned behavior</a:t>
            </a:r>
            <a:br>
              <a:rPr lang="en-US" dirty="0"/>
            </a:br>
            <a:r>
              <a:rPr lang="en-US" sz="1800" dirty="0"/>
              <a:t>Models learn your business logic, not just prompts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D41B56-FCFD-ED02-E3D9-B7F1DF7FDB4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469" y="2654491"/>
            <a:ext cx="6400800" cy="2231380"/>
          </a:xfrm>
        </p:spPr>
        <p:txBody>
          <a:bodyPr/>
          <a:lstStyle/>
          <a:p>
            <a:pPr fontAlgn="t">
              <a:lnSpc>
                <a:spcPts val="2460"/>
              </a:lnSpc>
              <a:spcBef>
                <a:spcPts val="600"/>
              </a:spcBef>
            </a:pPr>
            <a:r>
              <a:rPr lang="en-US" b="1" dirty="0"/>
              <a:t>Observe how your agents behave in production</a:t>
            </a:r>
            <a:br>
              <a:rPr lang="en-US" dirty="0"/>
            </a:br>
            <a:r>
              <a:rPr lang="en-US" i="1" dirty="0"/>
              <a:t>Trace real interactions from deployed agents</a:t>
            </a:r>
            <a:endParaRPr lang="en-US" dirty="0"/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Learn from those signals using reinforcement learning</a:t>
            </a:r>
            <a:br>
              <a:rPr lang="en-US" dirty="0"/>
            </a:br>
            <a:r>
              <a:rPr lang="en-US" i="1" dirty="0"/>
              <a:t>Apply RL directly in Foundry</a:t>
            </a:r>
            <a:endParaRPr lang="en-US" dirty="0"/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Continuously improve decisions over time</a:t>
            </a:r>
            <a:br>
              <a:rPr lang="en-US" dirty="0"/>
            </a:br>
            <a:r>
              <a:rPr lang="en-US" i="1" dirty="0"/>
              <a:t>Train the model to make better real‑world choices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5EDDAE2F-00CF-4BDA-1CA9-E0A546BD0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5724465"/>
              </p:ext>
            </p:extLst>
          </p:nvPr>
        </p:nvGraphicFramePr>
        <p:xfrm>
          <a:off x="469469" y="5847318"/>
          <a:ext cx="8952322" cy="7660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1069">
                  <a:extLst>
                    <a:ext uri="{9D8B030D-6E8A-4147-A177-3AD203B41FA5}">
                      <a16:colId xmlns:a16="http://schemas.microsoft.com/office/drawing/2014/main" val="737952839"/>
                    </a:ext>
                  </a:extLst>
                </a:gridCol>
                <a:gridCol w="4844434">
                  <a:extLst>
                    <a:ext uri="{9D8B030D-6E8A-4147-A177-3AD203B41FA5}">
                      <a16:colId xmlns:a16="http://schemas.microsoft.com/office/drawing/2014/main" val="626662839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4101391338"/>
                    </a:ext>
                  </a:extLst>
                </a:gridCol>
                <a:gridCol w="1493133">
                  <a:extLst>
                    <a:ext uri="{9D8B030D-6E8A-4147-A177-3AD203B41FA5}">
                      <a16:colId xmlns:a16="http://schemas.microsoft.com/office/drawing/2014/main" val="2756487976"/>
                    </a:ext>
                  </a:extLst>
                </a:gridCol>
              </a:tblGrid>
              <a:tr h="7523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LAB521-R1</a:t>
                      </a:r>
                    </a:p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LAB521-R2</a:t>
                      </a:r>
                    </a:p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LAB521-R3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Improving agent behavior using reinforcement learning from traces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Wed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Jun 3</a:t>
                      </a:r>
                    </a:p>
                    <a:p>
                      <a:pPr algn="l" fontAlgn="b">
                        <a:buNone/>
                      </a:pPr>
                      <a:endParaRPr lang="fr-FR" sz="1000" b="0" i="0" u="none" strike="noStrike" dirty="0">
                        <a:solidFill>
                          <a:schemeClr val="tx1"/>
                        </a:solidFill>
                        <a:effectLst/>
                        <a:latin typeface="Segoe UI" panose="020B0502040204020203" pitchFamily="34" charset="0"/>
                        <a:cs typeface="Segoe UI" panose="020B0502040204020203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9:00 AM - 10:15 AM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1:15 PM - 2:30 PM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4:45 PM - 6:00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Gateway </a:t>
                      </a:r>
                      <a:r>
                        <a:rPr lang="nn-NO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Pavilion</a:t>
                      </a: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Level 1, Lab 1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5007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016254"/>
      </p:ext>
    </p:extLst>
  </p:cSld>
  <p:clrMapOvr>
    <a:masterClrMapping/>
  </p:clrMapOvr>
  <p:transition advClick="0" advTm="80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80D9B6-1281-796B-09A7-0F269E9B7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6B9A0A43-053C-F47C-4170-0D6DEE857A62}"/>
              </a:ext>
            </a:extLst>
          </p:cNvPr>
          <p:cNvSpPr/>
          <p:nvPr/>
        </p:nvSpPr>
        <p:spPr bwMode="auto">
          <a:xfrm>
            <a:off x="92599" y="0"/>
            <a:ext cx="9792182" cy="6858000"/>
          </a:xfrm>
          <a:prstGeom prst="rect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7344DF-8526-DA59-1B66-E11AD7844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69" y="443471"/>
            <a:ext cx="10318137" cy="1249573"/>
          </a:xfrm>
        </p:spPr>
        <p:txBody>
          <a:bodyPr/>
          <a:lstStyle/>
          <a:p>
            <a:pPr fontAlgn="t">
              <a:lnSpc>
                <a:spcPct val="140000"/>
              </a:lnSpc>
              <a:spcBef>
                <a:spcPts val="1800"/>
              </a:spcBef>
            </a:pPr>
            <a:r>
              <a:rPr lang="en-US" dirty="0"/>
              <a:t>Train on what actually happens in production</a:t>
            </a:r>
            <a:br>
              <a:rPr lang="en-US" dirty="0"/>
            </a:br>
            <a:r>
              <a:rPr lang="en-US" sz="1800" dirty="0"/>
              <a:t>Don’t pay frontier‑model prices for narrow tasks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3A9A79-65B0-2E9C-3C7B-CC2B031CF9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469" y="2654491"/>
            <a:ext cx="6400800" cy="2231380"/>
          </a:xfrm>
        </p:spPr>
        <p:txBody>
          <a:bodyPr/>
          <a:lstStyle/>
          <a:p>
            <a:pPr fontAlgn="t">
              <a:lnSpc>
                <a:spcPts val="2460"/>
              </a:lnSpc>
            </a:pPr>
            <a:r>
              <a:rPr lang="en-US" b="1" dirty="0"/>
              <a:t>Capture real usage from your agents</a:t>
            </a:r>
            <a:br>
              <a:rPr lang="en-US" dirty="0"/>
            </a:br>
            <a:r>
              <a:rPr lang="en-US" i="1" dirty="0"/>
              <a:t>Use production traces as training data</a:t>
            </a:r>
            <a:endParaRPr lang="en-US" dirty="0"/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Distill into smaller, task‑specific models</a:t>
            </a:r>
            <a:br>
              <a:rPr lang="en-US" dirty="0"/>
            </a:br>
            <a:r>
              <a:rPr lang="en-US" i="1" dirty="0"/>
              <a:t>Fine‑tune efficient models from real scenarios</a:t>
            </a:r>
            <a:endParaRPr lang="en-US" dirty="0"/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Reduce cost and latency at scale</a:t>
            </a:r>
            <a:br>
              <a:rPr lang="en-US" dirty="0"/>
            </a:br>
            <a:r>
              <a:rPr lang="en-US" i="1" dirty="0"/>
              <a:t>Deploy faster, cheaper models for targeted tasks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2C04F0E-D4AD-F2E0-009E-90F483C12469}"/>
              </a:ext>
            </a:extLst>
          </p:cNvPr>
          <p:cNvGraphicFramePr>
            <a:graphicFrameLocks noGrp="1"/>
          </p:cNvGraphicFramePr>
          <p:nvPr/>
        </p:nvGraphicFramePr>
        <p:xfrm>
          <a:off x="469469" y="5847318"/>
          <a:ext cx="8952322" cy="7523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1069">
                  <a:extLst>
                    <a:ext uri="{9D8B030D-6E8A-4147-A177-3AD203B41FA5}">
                      <a16:colId xmlns:a16="http://schemas.microsoft.com/office/drawing/2014/main" val="737952839"/>
                    </a:ext>
                  </a:extLst>
                </a:gridCol>
                <a:gridCol w="4844434">
                  <a:extLst>
                    <a:ext uri="{9D8B030D-6E8A-4147-A177-3AD203B41FA5}">
                      <a16:colId xmlns:a16="http://schemas.microsoft.com/office/drawing/2014/main" val="626662839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4101391338"/>
                    </a:ext>
                  </a:extLst>
                </a:gridCol>
                <a:gridCol w="1493133">
                  <a:extLst>
                    <a:ext uri="{9D8B030D-6E8A-4147-A177-3AD203B41FA5}">
                      <a16:colId xmlns:a16="http://schemas.microsoft.com/office/drawing/2014/main" val="2756487976"/>
                    </a:ext>
                  </a:extLst>
                </a:gridCol>
              </a:tblGrid>
              <a:tr h="7523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DEM322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Smaller, faster, smarter: Distilling models with fine‑tuning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n-NO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Wed</a:t>
                      </a: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</a:t>
                      </a:r>
                      <a:r>
                        <a:rPr lang="nn-NO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Jun</a:t>
                      </a: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 3</a:t>
                      </a:r>
                    </a:p>
                    <a:p>
                      <a:pPr algn="l" fontAlgn="b">
                        <a:buNone/>
                      </a:pPr>
                      <a:endParaRPr lang="nn-NO" sz="1000" b="0" i="0" u="none" strike="noStrike" dirty="0">
                        <a:solidFill>
                          <a:schemeClr val="tx1"/>
                        </a:solidFill>
                        <a:effectLst/>
                        <a:latin typeface="+mn-lt"/>
                        <a:cs typeface="Segoe UI" panose="020B0502040204020203" pitchFamily="34" charset="0"/>
                      </a:endParaRPr>
                    </a:p>
                    <a:p>
                      <a:pPr algn="l" fontAlgn="b">
                        <a:buNone/>
                      </a:pP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 panose="020B0502040204020203" pitchFamily="34" charset="0"/>
                        </a:rPr>
                        <a:t>12:20 PM - 12:45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Gateway </a:t>
                      </a:r>
                      <a:r>
                        <a:rPr lang="nn-NO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Pavilion</a:t>
                      </a: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, </a:t>
                      </a:r>
                    </a:p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  <a:cs typeface="Segoe UI"/>
                        </a:rPr>
                        <a:t>Level 2, Theater C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5007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5337627"/>
      </p:ext>
    </p:extLst>
  </p:cSld>
  <p:clrMapOvr>
    <a:masterClrMapping/>
  </p:clrMapOvr>
  <p:transition advClick="0" advTm="80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C455D-86F2-FB46-F66E-16EBD869DA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EAA95E0-D352-72C9-D319-070EAD70D9AB}"/>
              </a:ext>
            </a:extLst>
          </p:cNvPr>
          <p:cNvSpPr/>
          <p:nvPr/>
        </p:nvSpPr>
        <p:spPr bwMode="auto">
          <a:xfrm>
            <a:off x="92599" y="0"/>
            <a:ext cx="9792182" cy="6858000"/>
          </a:xfrm>
          <a:prstGeom prst="rect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C4CF4F-93AB-9E3C-2BF7-67120461B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69" y="443471"/>
            <a:ext cx="10318137" cy="1249573"/>
          </a:xfrm>
        </p:spPr>
        <p:txBody>
          <a:bodyPr/>
          <a:lstStyle/>
          <a:p>
            <a:pPr fontAlgn="t">
              <a:lnSpc>
                <a:spcPct val="140000"/>
              </a:lnSpc>
              <a:spcBef>
                <a:spcPts val="1800"/>
              </a:spcBef>
            </a:pPr>
            <a:r>
              <a:rPr lang="en-US" dirty="0"/>
              <a:t>Go beyond one‑click optimization</a:t>
            </a:r>
            <a:br>
              <a:rPr lang="en-US" dirty="0"/>
            </a:br>
            <a:r>
              <a:rPr lang="en-US" sz="1800" dirty="0"/>
              <a:t>Full control with training API when standard approaches aren’t enough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9B4CE8-251A-CB9A-B647-0E82D251133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469" y="2654491"/>
            <a:ext cx="6400800" cy="2231380"/>
          </a:xfrm>
        </p:spPr>
        <p:txBody>
          <a:bodyPr/>
          <a:lstStyle/>
          <a:p>
            <a:pPr fontAlgn="t">
              <a:lnSpc>
                <a:spcPts val="2460"/>
              </a:lnSpc>
            </a:pPr>
            <a:r>
              <a:rPr lang="en-US" b="1" dirty="0"/>
              <a:t>Start with your own training approach</a:t>
            </a:r>
            <a:br>
              <a:rPr lang="en-US" dirty="0"/>
            </a:br>
            <a:r>
              <a:rPr lang="en-US" i="1" dirty="0"/>
              <a:t>Define custom RL recipes</a:t>
            </a:r>
            <a:endParaRPr lang="en-US" dirty="0"/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Control how your model learns</a:t>
            </a:r>
            <a:br>
              <a:rPr lang="en-US" dirty="0"/>
            </a:br>
            <a:r>
              <a:rPr lang="en-US" i="1" dirty="0"/>
              <a:t>Customize reward functions and training logic</a:t>
            </a:r>
            <a:endParaRPr lang="en-US" dirty="0"/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Scale training to your needs</a:t>
            </a:r>
            <a:br>
              <a:rPr lang="en-US" dirty="0"/>
            </a:br>
            <a:r>
              <a:rPr lang="en-US" i="1" dirty="0"/>
              <a:t>Run optimized jobs on your infrastructure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53CDE8D-0ACB-FAAC-B56E-05109ACC99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7969973"/>
              </p:ext>
            </p:extLst>
          </p:nvPr>
        </p:nvGraphicFramePr>
        <p:xfrm>
          <a:off x="469469" y="5847318"/>
          <a:ext cx="8952322" cy="7523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1069">
                  <a:extLst>
                    <a:ext uri="{9D8B030D-6E8A-4147-A177-3AD203B41FA5}">
                      <a16:colId xmlns:a16="http://schemas.microsoft.com/office/drawing/2014/main" val="737952839"/>
                    </a:ext>
                  </a:extLst>
                </a:gridCol>
                <a:gridCol w="4844434">
                  <a:extLst>
                    <a:ext uri="{9D8B030D-6E8A-4147-A177-3AD203B41FA5}">
                      <a16:colId xmlns:a16="http://schemas.microsoft.com/office/drawing/2014/main" val="626662839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4101391338"/>
                    </a:ext>
                  </a:extLst>
                </a:gridCol>
                <a:gridCol w="1493133">
                  <a:extLst>
                    <a:ext uri="{9D8B030D-6E8A-4147-A177-3AD203B41FA5}">
                      <a16:colId xmlns:a16="http://schemas.microsoft.com/office/drawing/2014/main" val="2756487976"/>
                    </a:ext>
                  </a:extLst>
                </a:gridCol>
              </a:tblGrid>
              <a:tr h="7523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BRK231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Deploy. Observe. Learn. Reinforcement learning for production agents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Tue, Jun 2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3:45 PM - 4:30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Festival </a:t>
                      </a:r>
                      <a:r>
                        <a:rPr lang="fr-F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Pavilion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Breakout</a:t>
                      </a: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 2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5007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006363"/>
      </p:ext>
    </p:extLst>
  </p:cSld>
  <p:clrMapOvr>
    <a:masterClrMapping/>
  </p:clrMapOvr>
  <p:transition advClick="0" advTm="80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F37D0-1F0E-CE5C-BBBF-92CAFC10E2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1A10170-D2C5-D1D3-12DA-AA2EC1E941C3}"/>
              </a:ext>
            </a:extLst>
          </p:cNvPr>
          <p:cNvSpPr/>
          <p:nvPr/>
        </p:nvSpPr>
        <p:spPr bwMode="auto">
          <a:xfrm>
            <a:off x="92599" y="0"/>
            <a:ext cx="9792182" cy="6858000"/>
          </a:xfrm>
          <a:prstGeom prst="rect">
            <a:avLst/>
          </a:prstGeom>
          <a:solidFill>
            <a:srgbClr val="000000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3D19AAC-468C-5266-6811-F9477988F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469" y="443471"/>
            <a:ext cx="10318137" cy="1249573"/>
          </a:xfrm>
        </p:spPr>
        <p:txBody>
          <a:bodyPr/>
          <a:lstStyle/>
          <a:p>
            <a:pPr fontAlgn="t">
              <a:lnSpc>
                <a:spcPct val="140000"/>
              </a:lnSpc>
              <a:spcBef>
                <a:spcPts val="1800"/>
              </a:spcBef>
            </a:pPr>
            <a:r>
              <a:rPr lang="en-US" dirty="0"/>
              <a:t>Make fine‑tuning part of your workflow</a:t>
            </a:r>
            <a:br>
              <a:rPr lang="en-US" dirty="0"/>
            </a:br>
            <a:r>
              <a:rPr lang="en-US" sz="1800" dirty="0"/>
              <a:t>Fine‑tuning meets developer productivity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6C7F8E-B2E8-F020-8B9D-10BCA26FD70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9469" y="2654491"/>
            <a:ext cx="6400800" cy="2231380"/>
          </a:xfrm>
        </p:spPr>
        <p:txBody>
          <a:bodyPr/>
          <a:lstStyle/>
          <a:p>
            <a:pPr fontAlgn="t">
              <a:lnSpc>
                <a:spcPts val="2460"/>
              </a:lnSpc>
            </a:pPr>
            <a:r>
              <a:rPr lang="en-US" b="1" dirty="0"/>
              <a:t>Start fine‑tuning jobs in plain language</a:t>
            </a:r>
          </a:p>
          <a:p>
            <a:pPr fontAlgn="t">
              <a:lnSpc>
                <a:spcPts val="2460"/>
              </a:lnSpc>
            </a:pPr>
            <a:r>
              <a:rPr lang="en-US" i="1" dirty="0"/>
              <a:t>Use Copilot in CLI or VS Code</a:t>
            </a:r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Manage and monitor runs easily</a:t>
            </a:r>
          </a:p>
          <a:p>
            <a:pPr fontAlgn="t">
              <a:lnSpc>
                <a:spcPts val="2460"/>
              </a:lnSpc>
            </a:pPr>
            <a:r>
              <a:rPr lang="en-US" i="1" dirty="0"/>
              <a:t>Track, update, or cancel jobs conversationally</a:t>
            </a:r>
          </a:p>
          <a:p>
            <a:pPr fontAlgn="t">
              <a:lnSpc>
                <a:spcPts val="2460"/>
              </a:lnSpc>
              <a:spcBef>
                <a:spcPts val="1200"/>
              </a:spcBef>
            </a:pPr>
            <a:r>
              <a:rPr lang="en-US" b="1" dirty="0"/>
              <a:t>Iterate quickly as models improve</a:t>
            </a:r>
          </a:p>
          <a:p>
            <a:pPr fontAlgn="t">
              <a:lnSpc>
                <a:spcPts val="2460"/>
              </a:lnSpc>
            </a:pPr>
            <a:r>
              <a:rPr lang="en-US" i="1" dirty="0"/>
              <a:t>Integrate tuning into everyday dev workflows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F5920B5-E54E-0B5D-7BA1-CE992CB654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6557968"/>
              </p:ext>
            </p:extLst>
          </p:nvPr>
        </p:nvGraphicFramePr>
        <p:xfrm>
          <a:off x="469469" y="5847318"/>
          <a:ext cx="8952322" cy="75230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91069">
                  <a:extLst>
                    <a:ext uri="{9D8B030D-6E8A-4147-A177-3AD203B41FA5}">
                      <a16:colId xmlns:a16="http://schemas.microsoft.com/office/drawing/2014/main" val="737952839"/>
                    </a:ext>
                  </a:extLst>
                </a:gridCol>
                <a:gridCol w="4844434">
                  <a:extLst>
                    <a:ext uri="{9D8B030D-6E8A-4147-A177-3AD203B41FA5}">
                      <a16:colId xmlns:a16="http://schemas.microsoft.com/office/drawing/2014/main" val="626662839"/>
                    </a:ext>
                  </a:extLst>
                </a:gridCol>
                <a:gridCol w="1423686">
                  <a:extLst>
                    <a:ext uri="{9D8B030D-6E8A-4147-A177-3AD203B41FA5}">
                      <a16:colId xmlns:a16="http://schemas.microsoft.com/office/drawing/2014/main" val="4101391338"/>
                    </a:ext>
                  </a:extLst>
                </a:gridCol>
                <a:gridCol w="1493133">
                  <a:extLst>
                    <a:ext uri="{9D8B030D-6E8A-4147-A177-3AD203B41FA5}">
                      <a16:colId xmlns:a16="http://schemas.microsoft.com/office/drawing/2014/main" val="2756487976"/>
                    </a:ext>
                  </a:extLst>
                </a:gridCol>
              </a:tblGrid>
              <a:tr h="7523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LTG418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sng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Smarter training patterns for better AI models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Tue, Jun 2</a:t>
                      </a:r>
                    </a:p>
                    <a:p>
                      <a:pPr algn="l" fontAlgn="b">
                        <a:buNone/>
                      </a:pPr>
                      <a:r>
                        <a:rPr lang="fr-FR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4:30 PM - 4:45 PM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32742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Gateway </a:t>
                      </a:r>
                      <a:r>
                        <a:rPr lang="nn-NO" sz="1000" b="0" i="0" u="none" strike="noStrike" dirty="0" err="1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Pavilion</a:t>
                      </a:r>
                      <a:r>
                        <a:rPr lang="nn-NO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Segoe UI" panose="020B0502040204020203" pitchFamily="34" charset="0"/>
                          <a:cs typeface="Segoe UI" panose="020B0502040204020203" pitchFamily="34" charset="0"/>
                        </a:rPr>
                        <a:t>, Level 2, Theater 3</a:t>
                      </a:r>
                    </a:p>
                  </a:txBody>
                  <a:tcPr marL="4082" marR="4082" marT="4082" marB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350079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3842251"/>
      </p:ext>
    </p:extLst>
  </p:cSld>
  <p:clrMapOvr>
    <a:masterClrMapping/>
  </p:clrMapOvr>
  <p:transition advClick="0" advTm="80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AC259-272E-59F5-5560-8D4F7D36D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CF57FDA-22E9-BA7A-4B11-E1B880631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Feedback</a:t>
            </a:r>
          </a:p>
        </p:txBody>
      </p:sp>
    </p:spTree>
    <p:extLst>
      <p:ext uri="{BB962C8B-B14F-4D97-AF65-F5344CB8AC3E}">
        <p14:creationId xmlns:p14="http://schemas.microsoft.com/office/powerpoint/2010/main" val="1578657356"/>
      </p:ext>
    </p:extLst>
  </p:cSld>
  <p:clrMapOvr>
    <a:masterClrMapping/>
  </p:clrMapOvr>
  <p:transition advClick="0" advTm="80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7B786-1652-4739-FEDF-F51B78482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BFC9C57-FBA9-46AA-8096-A31A27B2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" y="3504813"/>
            <a:ext cx="5577840" cy="1615827"/>
          </a:xfrm>
        </p:spPr>
        <p:txBody>
          <a:bodyPr/>
          <a:lstStyle/>
          <a:p>
            <a:r>
              <a:rPr lang="en-US" sz="3500" dirty="0"/>
              <a:t>Fill out the survey to provide direct feedback to the product team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573D7DF-AADF-B48C-AA98-A2894E776058}"/>
              </a:ext>
            </a:extLst>
          </p:cNvPr>
          <p:cNvSpPr/>
          <p:nvPr/>
        </p:nvSpPr>
        <p:spPr bwMode="auto">
          <a:xfrm>
            <a:off x="6227182" y="1674273"/>
            <a:ext cx="3657600" cy="36576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 dirty="0" err="1">
              <a:solidFill>
                <a:schemeClr val="bg1"/>
              </a:soli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2" name="Picture 1" descr="build-qrcode.png">
            <a:extLst>
              <a:ext uri="{FF2B5EF4-FFF2-40B4-BE49-F238E27FC236}">
                <a16:creationId xmlns:a16="http://schemas.microsoft.com/office/drawing/2014/main" id="{2A44B171-9514-1D90-3A5F-14E25013EB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0586" y="1813173"/>
            <a:ext cx="3383280" cy="33832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D0A16D-4B31-DA0B-3815-A31429405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620802" y="1494649"/>
            <a:ext cx="3576960" cy="2011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5B1945-1EC7-E12B-0686-5E5808E74AC6}"/>
              </a:ext>
            </a:extLst>
          </p:cNvPr>
          <p:cNvSpPr txBox="1"/>
          <p:nvPr/>
        </p:nvSpPr>
        <p:spPr>
          <a:xfrm>
            <a:off x="1633942" y="2223490"/>
            <a:ext cx="357696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000" b="1" i="0" dirty="0">
                <a:effectLst/>
                <a:latin typeface="Segoe UI" panose="020B0502040204020203" pitchFamily="34" charset="0"/>
              </a:rPr>
              <a:t>Microsoft Foundry</a:t>
            </a:r>
            <a:endParaRPr lang="en-US" sz="3000" b="1" dirty="0"/>
          </a:p>
        </p:txBody>
      </p:sp>
    </p:spTree>
    <p:extLst>
      <p:ext uri="{BB962C8B-B14F-4D97-AF65-F5344CB8AC3E}">
        <p14:creationId xmlns:p14="http://schemas.microsoft.com/office/powerpoint/2010/main" val="2268362843"/>
      </p:ext>
    </p:extLst>
  </p:cSld>
  <p:clrMapOvr>
    <a:masterClrMapping/>
  </p:clrMapOvr>
  <p:transition advClick="0" advTm="8000">
    <p:fade/>
  </p:transition>
</p:sld>
</file>

<file path=ppt/theme/theme1.xml><?xml version="1.0" encoding="utf-8"?>
<a:theme xmlns:a="http://schemas.openxmlformats.org/drawingml/2006/main" name="Microsoft Build 16:9 Template Light">
  <a:themeElements>
    <a:clrScheme name="Custom 80">
      <a:dk1>
        <a:srgbClr val="000000"/>
      </a:dk1>
      <a:lt1>
        <a:srgbClr val="FFFFFF"/>
      </a:lt1>
      <a:dk2>
        <a:srgbClr val="2A446F"/>
      </a:dk2>
      <a:lt2>
        <a:srgbClr val="D7D2CB"/>
      </a:lt2>
      <a:accent1>
        <a:srgbClr val="00A4EF"/>
      </a:accent1>
      <a:accent2>
        <a:srgbClr val="7FBA00"/>
      </a:accent2>
      <a:accent3>
        <a:srgbClr val="F25022"/>
      </a:accent3>
      <a:accent4>
        <a:srgbClr val="BF9474"/>
      </a:accent4>
      <a:accent5>
        <a:srgbClr val="FFB900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5F1F9044-CA6A-440B-A728-2F8917897A95}"/>
    </a:ext>
  </a:extLst>
</a:theme>
</file>

<file path=ppt/theme/theme2.xml><?xml version="1.0" encoding="utf-8"?>
<a:theme xmlns:a="http://schemas.openxmlformats.org/drawingml/2006/main" name="Microsoft Build 16:9 Template Dark">
  <a:themeElements>
    <a:clrScheme name="Custom 79">
      <a:dk1>
        <a:srgbClr val="000000"/>
      </a:dk1>
      <a:lt1>
        <a:srgbClr val="FFFFFF"/>
      </a:lt1>
      <a:dk2>
        <a:srgbClr val="091F2C"/>
      </a:dk2>
      <a:lt2>
        <a:srgbClr val="E8E6DF"/>
      </a:lt2>
      <a:accent1>
        <a:srgbClr val="00A4EF"/>
      </a:accent1>
      <a:accent2>
        <a:srgbClr val="7FBA00"/>
      </a:accent2>
      <a:accent3>
        <a:srgbClr val="F25022"/>
      </a:accent3>
      <a:accent4>
        <a:srgbClr val="E1D3C7"/>
      </a:accent4>
      <a:accent5>
        <a:srgbClr val="FFB900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Build_2026_16-9 Event-template_v03.potx" id="{23295F41-47B4-4925-B9F3-5276FDC5A736}" vid="{9568D0D4-72EB-4CE1-95C9-D12481B11A0F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MediaServiceKeyPoints xmlns="39b48df9-7bcc-48f8-84a5-975ca2e243d0" xsi:nil="true"/>
    <lcf76f155ced4ddcb4097134ff3c332f xmlns="39b48df9-7bcc-48f8-84a5-975ca2e243d0">
      <Terms xmlns="http://schemas.microsoft.com/office/infopath/2007/PartnerControls"/>
    </lcf76f155ced4ddcb4097134ff3c332f>
    <j5610f6f79384a4d92af5d7a6b56e029 xmlns="39b48df9-7bcc-48f8-84a5-975ca2e243d0">
      <Terms xmlns="http://schemas.microsoft.com/office/infopath/2007/PartnerControls"/>
    </j5610f6f79384a4d92af5d7a6b56e029>
    <uvsThumbnailurl xmlns="39b48df9-7bcc-48f8-84a5-975ca2e243d0" xsi:nil="true"/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5EC89680E11F64392A775FE1A751122" ma:contentTypeVersion="26" ma:contentTypeDescription="Create a new document." ma:contentTypeScope="" ma:versionID="9969028081730ee97d21bdaac806d38a">
  <xsd:schema xmlns:xsd="http://www.w3.org/2001/XMLSchema" xmlns:xs="http://www.w3.org/2001/XMLSchema" xmlns:p="http://schemas.microsoft.com/office/2006/metadata/properties" xmlns:ns1="http://schemas.microsoft.com/sharepoint/v3" xmlns:ns2="39b48df9-7bcc-48f8-84a5-975ca2e243d0" xmlns:ns3="8acfeebd-d9f0-4ade-ade8-6c6fbcc43572" xmlns:ns4="230e9df3-be65-4c73-a93b-d1236ebd677e" targetNamespace="http://schemas.microsoft.com/office/2006/metadata/properties" ma:root="true" ma:fieldsID="531b72d70252e024ceee9ee87ea63378" ns1:_="" ns2:_="" ns3:_="" ns4:_="">
    <xsd:import namespace="http://schemas.microsoft.com/sharepoint/v3"/>
    <xsd:import namespace="39b48df9-7bcc-48f8-84a5-975ca2e243d0"/>
    <xsd:import namespace="8acfeebd-d9f0-4ade-ade8-6c6fbcc43572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uvsThumbnailurl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1:_ip_UnifiedCompliancePolicyProperties" minOccurs="0"/>
                <xsd:element ref="ns1:_ip_UnifiedCompliancePolicyUIAction" minOccurs="0"/>
                <xsd:element ref="ns2:MediaServiceSearchProperties" minOccurs="0"/>
                <xsd:element ref="ns2:j5610f6f79384a4d92af5d7a6b56e029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4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25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9b48df9-7bcc-48f8-84a5-975ca2e243d0" elementFormDefault="qualified">
    <xsd:import namespace="http://schemas.microsoft.com/office/2006/documentManagement/types"/>
    <xsd:import namespace="http://schemas.microsoft.com/office/infopath/2007/PartnerControls"/>
    <xsd:element name="uvsThumbnailurl" ma:index="8" nillable="true" ma:displayName="uvsThumbnailurl" ma:format="Dropdown" ma:internalName="uvsThumbnailurl">
      <xsd:simpleType>
        <xsd:restriction base="dms:Text">
          <xsd:maxLength value="255"/>
        </xsd:restriction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5" nillable="true" ma:displayName="Location" ma:internalName="MediaServiceLocation" ma:readOnly="true">
      <xsd:simpleType>
        <xsd:restriction base="dms:Text"/>
      </xsd:simpleType>
    </xsd:element>
    <xsd:element name="MediaLengthInSeconds" ma:index="16" nillable="true" ma:displayName="Length (seconds)" ma:internalName="MediaLengthInSeconds" ma:readOnly="true">
      <xsd:simpleType>
        <xsd:restriction base="dms:Unknown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j5610f6f79384a4d92af5d7a6b56e029" ma:index="28" nillable="true" ma:taxonomy="true" ma:internalName="j5610f6f79384a4d92af5d7a6b56e029" ma:taxonomyFieldName="Metadata" ma:displayName="Metadata" ma:default="" ma:fieldId="{35610f6f-7938-4a4d-92af-5d7a6b56e029}" ma:sspId="e385fb40-52d4-4fae-9c5b-3e8ff8a5878e" ma:termSetId="386095d1-c68d-4c6d-b587-48ddaf1aecc9" ma:anchorId="00000000-0000-0000-0000-000000000000" ma:open="true" ma:isKeyword="false">
      <xsd:complexType>
        <xsd:sequence>
          <xsd:element ref="pc:Terms" minOccurs="0" maxOccurs="1"/>
        </xsd:sequence>
      </xsd:complexType>
    </xsd:element>
    <xsd:element name="MediaServiceDocTags" ma:index="29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3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cfeebd-d9f0-4ade-ade8-6c6fbcc43572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cf082490-e48c-4bba-a917-bf1fc11e5a27}" ma:internalName="TaxCatchAll" ma:showField="CatchAllData" ma:web="8acfeebd-d9f0-4ade-ade8-6c6fbcc435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990F116-B58F-4255-B05B-DA3808E0E5C6}">
  <ds:schemaRefs>
    <ds:schemaRef ds:uri="8acfeebd-d9f0-4ade-ade8-6c6fbcc43572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230e9df3-be65-4c73-a93b-d1236ebd677e"/>
    <ds:schemaRef ds:uri="39b48df9-7bcc-48f8-84a5-975ca2e243d0"/>
    <ds:schemaRef ds:uri="http://www.w3.org/XML/1998/namespace"/>
    <ds:schemaRef ds:uri="http://schemas.microsoft.com/sharepoint/v3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468D98C-7056-4B2E-AF35-ADD173A05FC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39b48df9-7bcc-48f8-84a5-975ca2e243d0"/>
    <ds:schemaRef ds:uri="8acfeebd-d9f0-4ade-ade8-6c6fbcc43572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Microsoft Build 16:9 Template Light</Template>
  <TotalTime>1887</TotalTime>
  <Words>740</Words>
  <Application>Microsoft Macintosh PowerPoint</Application>
  <PresentationFormat>Widescreen</PresentationFormat>
  <Paragraphs>117</Paragraphs>
  <Slides>13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3" baseType="lpstr">
      <vt:lpstr>Aptos</vt:lpstr>
      <vt:lpstr>Arial</vt:lpstr>
      <vt:lpstr>Consolas</vt:lpstr>
      <vt:lpstr>Segoe Sans Display Semibold</vt:lpstr>
      <vt:lpstr>Segoe UI</vt:lpstr>
      <vt:lpstr>Segoe UI Semibold</vt:lpstr>
      <vt:lpstr>Segoe UI Variable Display Semib</vt:lpstr>
      <vt:lpstr>Wingdings</vt:lpstr>
      <vt:lpstr>Microsoft Build 16:9 Template Light</vt:lpstr>
      <vt:lpstr>Microsoft Build 16:9 Template Dark</vt:lpstr>
      <vt:lpstr>Microsoft Build</vt:lpstr>
      <vt:lpstr>Fine-tuning &amp; adaption</vt:lpstr>
      <vt:lpstr>Turn real usage into better agents</vt:lpstr>
      <vt:lpstr>Sessions</vt:lpstr>
      <vt:lpstr>PowerPoint Presentation</vt:lpstr>
      <vt:lpstr>PowerPoint Presentation</vt:lpstr>
      <vt:lpstr>Highlights</vt:lpstr>
      <vt:lpstr>Turn usage into learned behavior Models learn your business logic, not just prompts</vt:lpstr>
      <vt:lpstr>Train on what actually happens in production Don’t pay frontier‑model prices for narrow tasks</vt:lpstr>
      <vt:lpstr>Go beyond one‑click optimization Full control with training API when standard approaches aren’t enough</vt:lpstr>
      <vt:lpstr>Make fine‑tuning part of your workflow Fine‑tuning meets developer productivity</vt:lpstr>
      <vt:lpstr>Feedback</vt:lpstr>
      <vt:lpstr>Fill out the survey to provide direct feedback to the product team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Build</dc:subject>
  <dc:creator>Esra Bakkalbasioglu</dc:creator>
  <cp:keywords>Microsoft Build</cp:keywords>
  <dc:description/>
  <cp:lastModifiedBy>Esra Bakkalbasioglu</cp:lastModifiedBy>
  <cp:revision>4</cp:revision>
  <cp:lastPrinted>2023-02-15T20:48:24Z</cp:lastPrinted>
  <dcterms:created xsi:type="dcterms:W3CDTF">2026-05-28T21:54:37Z</dcterms:created>
  <dcterms:modified xsi:type="dcterms:W3CDTF">2026-06-01T15:50:33Z</dcterms:modified>
  <cp:category>Microsoft Build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0x01010005EC89680E11F64392A775FE1A751122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</Properties>
</file>