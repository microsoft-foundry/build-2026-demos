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5447" r:id="rId4"/>
    <p:sldMasterId id="2147485551" r:id="rId5"/>
  </p:sldMasterIdLst>
  <p:notesMasterIdLst>
    <p:notesMasterId r:id="rId19"/>
  </p:notesMasterIdLst>
  <p:handoutMasterIdLst>
    <p:handoutMasterId r:id="rId20"/>
  </p:handoutMasterIdLst>
  <p:sldIdLst>
    <p:sldId id="2147479560" r:id="rId6"/>
    <p:sldId id="2147483542" r:id="rId7"/>
    <p:sldId id="2147483534" r:id="rId8"/>
    <p:sldId id="2147483529" r:id="rId9"/>
    <p:sldId id="2147483525" r:id="rId10"/>
    <p:sldId id="2147483533" r:id="rId11"/>
    <p:sldId id="2147483532" r:id="rId12"/>
    <p:sldId id="2147483536" r:id="rId13"/>
    <p:sldId id="2147483537" r:id="rId14"/>
    <p:sldId id="2147483540" r:id="rId15"/>
    <p:sldId id="2147483541" r:id="rId16"/>
    <p:sldId id="2147483530" r:id="rId17"/>
    <p:sldId id="2147483531" r:id="rId18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icrosoft Build 16:9 Template Dark" id="{5E174FA5-E68B-46F1-90F9-8D8AC2CB06F9}">
          <p14:sldIdLst>
            <p14:sldId id="2147479560"/>
            <p14:sldId id="2147483542"/>
            <p14:sldId id="2147483534"/>
            <p14:sldId id="2147483529"/>
            <p14:sldId id="2147483525"/>
            <p14:sldId id="2147483533"/>
            <p14:sldId id="2147483532"/>
            <p14:sldId id="2147483536"/>
            <p14:sldId id="2147483537"/>
            <p14:sldId id="2147483540"/>
            <p14:sldId id="2147483541"/>
            <p14:sldId id="2147483530"/>
            <p14:sldId id="2147483531"/>
          </p14:sldIdLst>
        </p14:section>
        <p14:section name="Microsoft Build 16:9 Template Light" id="{38B656EC-D568-4EF7-8842-9FA1AE1192C9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AFA61D8-796F-555E-A395-B33F90AAF99E}" name="Monica Lueder" initials="ML" userId="S::monical@microsoft.com::75969e72-ba9c-4e32-a4ac-c8f3aeff9ba2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C2613"/>
    <a:srgbClr val="00A5BB"/>
    <a:srgbClr val="D745ED"/>
    <a:srgbClr val="FCE906"/>
    <a:srgbClr val="0078D4"/>
    <a:srgbClr val="D7D2CB"/>
    <a:srgbClr val="E8E6DF"/>
    <a:srgbClr val="E1D3C7"/>
    <a:srgbClr val="4EFF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71720C-4EC8-9744-A57E-3B4DD45BD668}" v="630" dt="2026-05-30T05:08:54.8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84" autoAdjust="0"/>
    <p:restoredTop sz="95455" autoAdjust="0"/>
  </p:normalViewPr>
  <p:slideViewPr>
    <p:cSldViewPr snapToGrid="0">
      <p:cViewPr>
        <p:scale>
          <a:sx n="110" d="100"/>
          <a:sy n="110" d="100"/>
        </p:scale>
        <p:origin x="1624" y="864"/>
      </p:cViewPr>
      <p:guideLst/>
    </p:cSldViewPr>
  </p:slideViewPr>
  <p:outlineViewPr>
    <p:cViewPr>
      <p:scale>
        <a:sx n="33" d="100"/>
        <a:sy n="33" d="100"/>
      </p:scale>
      <p:origin x="0" y="-16368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1728"/>
    </p:cViewPr>
  </p:sorterViewPr>
  <p:notesViewPr>
    <p:cSldViewPr snapToGrid="0" showGuides="1">
      <p:cViewPr varScale="1">
        <p:scale>
          <a:sx n="78" d="100"/>
          <a:sy n="78" d="100"/>
        </p:scale>
        <p:origin x="3108" y="9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presProps" Target="presProps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574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Segoe UI" pitchFamily="34" charset="0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0F9EC6-89FF-47E1-8594-1A32E3B45134}" type="datetime8">
              <a:rPr lang="en-US" smtClean="0">
                <a:latin typeface="Segoe UI" pitchFamily="34" charset="0"/>
              </a:rPr>
              <a:t>5/28/26 2:54 PM</a:t>
            </a:fld>
            <a:endParaRPr lang="en-US" dirty="0">
              <a:latin typeface="Segoe UI" pitchFamily="34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795010" cy="3324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398463" defTabSz="914099" eaLnBrk="0" hangingPunct="0"/>
            <a:r>
              <a:rPr lang="en-US" sz="4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3"/>
          </p:nvPr>
        </p:nvSpPr>
        <p:spPr>
          <a:xfrm>
            <a:off x="5783579" y="8685213"/>
            <a:ext cx="107283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C9E9D6-92A0-482B-A603-C9BA7FFB8190}" type="slidenum">
              <a:rPr lang="en-US" smtClean="0">
                <a:latin typeface="Segoe UI" pitchFamily="34" charset="0"/>
              </a:rPr>
              <a:t>‹#›</a:t>
            </a:fld>
            <a:endParaRPr lang="en-US" dirty="0">
              <a:latin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5920740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571500" indent="0" algn="l">
              <a:defRPr sz="1200"/>
            </a:lvl1pPr>
          </a:lstStyle>
          <a:p>
            <a:pPr defTabSz="914099" eaLnBrk="0" hangingPunct="0"/>
            <a:r>
              <a:rPr lang="en-US" sz="400" dirty="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386CE63F-9E7F-4C04-9D0D-FCA25A8E9E86}" type="datetime8">
              <a:rPr lang="en-US" smtClean="0"/>
              <a:t>5/28/26 2:54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909309" y="8685213"/>
            <a:ext cx="94710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367" rtl="0" eaLnBrk="1" latinLnBrk="0" hangingPunct="1">
      <a:lnSpc>
        <a:spcPct val="90000"/>
      </a:lnSpc>
      <a:spcAft>
        <a:spcPts val="333"/>
      </a:spcAft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B6DF8-6DF2-20D6-4490-0BA20EF71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F015AA-E71B-ABF4-AE80-9800E0E68B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492ECA-F7B3-38BB-476D-92945BB42C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55932-D507-95A8-4F63-704C81BC7F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48384-68CD-46E0-932A-83402D0765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83393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42500-F7CF-DD6E-3B13-A632AD807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C5C808-C363-9791-1FA2-81D3B72FA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0B539B-9C5A-6DF3-69BE-1BB3F206BF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DEE700-754E-4064-6A6D-EF71422842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48384-68CD-46E0-932A-83402D0765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08139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5/29/26 9:56 PM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528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5/29/26 9:59 PM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736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F61B4-1186-3D50-69ED-796A080A3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1F3CF-592F-3907-AC69-2B8E27D36C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36E979-1350-377B-392C-D03163DA9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F351B8AE-7E27-CA80-83E5-A702738550D8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638386-C01D-878C-F324-0C1A34CD335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A2A268A-ADEC-3BE6-8DF2-37122B5BCB7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5/29/26 9:59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D7FF84-3907-A924-650A-F6B248FE91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714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EB0F3-FBAD-EE6C-1624-9AE716700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EAC1F4-716B-87CE-E07D-9BE2969FEC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13348-1D4B-BDB5-DFC1-95F42B1D0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CF92828-177C-86A8-A9CE-647AC7F9511B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64468A-A4AF-ACB5-7E8B-E44A3157EEA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A343F94-87E3-717B-4A18-9E6FA9FF1FC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5/29/26 10:01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591C25-FBAD-BCEB-A5DD-8B648D3075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3312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82434-8709-3A5A-669B-385E1C9AA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CF5147-32A2-D33A-B209-5CBC731CDF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07C125-0B0C-B9D1-1875-4736537464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96E095AC-160E-A9B6-389B-C8F9BB4DF582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AC286-EB01-6EEE-A239-204E2BC54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 dirty="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FA5E86-A8F1-0F47-5E9A-F4DA2C4A25A8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62C61DAB-D93E-49CA-B245-379601CFE8D0}" type="datetime8">
              <a:rPr lang="en-US" smtClean="0"/>
              <a:t>5/29/26 9:46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1A06D7-C820-4B41-B093-0F89DEEF710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25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jp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jp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2.jpg"/><Relationship Id="rId4" Type="http://schemas.openxmlformats.org/officeDocument/2006/relationships/image" Target="../media/image21.jp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3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jp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26.jpe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emf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3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emf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2.jp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8.jp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2.jpg"/><Relationship Id="rId4" Type="http://schemas.openxmlformats.org/officeDocument/2006/relationships/image" Target="../media/image21.jpg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3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2.jpg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26.jpeg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emf"/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61F197-BBD3-F0CF-61A3-8C722BAA63D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2971" t="27592" r="22666" b="8704"/>
          <a:stretch>
            <a:fillRect/>
          </a:stretch>
        </p:blipFill>
        <p:spPr>
          <a:xfrm>
            <a:off x="293688" y="1892300"/>
            <a:ext cx="9066212" cy="4368800"/>
          </a:xfrm>
          <a:prstGeom prst="rect">
            <a:avLst/>
          </a:prstGeom>
        </p:spPr>
      </p:pic>
      <p:pic>
        <p:nvPicPr>
          <p:cNvPr id="5" name="MS logo gray - EMF" descr="Microsoft logo, gray text version">
            <a:extLst>
              <a:ext uri="{FF2B5EF4-FFF2-40B4-BE49-F238E27FC236}">
                <a16:creationId xmlns:a16="http://schemas.microsoft.com/office/drawing/2014/main" id="{5E852628-66D0-63A4-2D1F-5C71AC7C4B4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829122"/>
      </p:ext>
    </p:extLst>
  </p:cSld>
  <p:clrMapOvr>
    <a:masterClrMapping/>
  </p:clrMapOvr>
  <p:transition advClick="0" advTm="8000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white">
          <a:xfrm>
            <a:off x="584200" y="2425780"/>
            <a:ext cx="5577840" cy="1107996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Segoe Sans Display Semibold" pitchFamily="2" charset="0"/>
                <a:ea typeface="+mn-ea"/>
                <a:cs typeface="Segoe Sans Display Semibold" pitchFamily="2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84199" y="3962399"/>
            <a:ext cx="5577839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29DE1A84-7895-6C86-55F4-BD33491BA5C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138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solidFill>
          <a:srgbClr val="F4F3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Segoe Sans Display Semibold" pitchFamily="2" charset="0"/>
                <a:cs typeface="Segoe Sans Display Semibold" pitchFamily="2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B0D12AE-ADCF-1091-117F-BB03F7EC50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3970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224827369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6579812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30914654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42141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6131084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DFBB8-E1C1-D5AB-8154-CBA2D9EFB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56897228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113435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11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5265676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324421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172527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1626746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0333449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/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327447213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925968167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 dirty="0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363888581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ow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F619C2-B134-493A-AB9F-5DE39C929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446173974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340605611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328480577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654328601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122900082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856823867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31357119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 r:embed="rId5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991869532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blipFill>
            <a:blip r:embed="rId2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blipFill>
            <a:blip r:embed="rId3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E597A-BE1E-6B1F-960D-A90DC9544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4166138305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blipFill>
            <a:blip r:embed="rId2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blipFill>
            <a:blip r:embed="rId3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blipFill>
            <a:blip r:embed="rId4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36824570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blipFill>
            <a:blip r:embed="rId2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blipFill>
            <a:blip r:embed="rId3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blipFill>
            <a:blip r:embed="rId4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blipFill>
            <a:blip r:embed="rId5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8010186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blipFill>
            <a:blip r:embed="rId2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blipFill>
            <a:blip r:embed="rId3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blipFill>
            <a:blip r:embed="rId4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blipFill>
            <a:blip r:embed="rId5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blipFill>
            <a:blip r:embed="rId6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836742160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61236213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blipFill>
            <a:blip r:embed="rId5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83893900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657282263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2309812"/>
            <a:ext cx="3182027" cy="3959225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217360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254422840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bg>
      <p:bgPr>
        <a:solidFill>
          <a:srgbClr val="E1D3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636FE-845C-418D-82A1-1DA6DB73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D46E0-16CE-40B0-8623-F82D5D41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1436688"/>
            <a:ext cx="12192000" cy="542131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4977AB6-1D7E-4858-A2EA-BF86577C39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3668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2099310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tabLst>
                <a:tab pos="344488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tabLst>
                <a:tab pos="569913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tabLst>
                <a:tab pos="8001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tabLst>
                <a:tab pos="10287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684861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1322">
          <p15:clr>
            <a:srgbClr val="5ACBF0"/>
          </p15:clr>
        </p15:guide>
        <p15:guide id="2" orient="horz" pos="905">
          <p15:clr>
            <a:srgbClr val="5ACBF0"/>
          </p15:clr>
        </p15:guide>
        <p15:guide id="3" orient="horz" pos="288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Botto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6390" y="1230681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2827138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2713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3491219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6576392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1776">
          <p15:clr>
            <a:srgbClr val="5ACBF0"/>
          </p15:clr>
        </p15:guide>
        <p15:guide id="5" orient="horz" pos="2197">
          <p15:clr>
            <a:srgbClr val="5ACBF0"/>
          </p15:clr>
        </p15:guide>
        <p15:guide id="6" orient="horz" pos="773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T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224580"/>
            <a:ext cx="11018520" cy="49244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660508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1152" y="4996505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6928592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2661">
          <p15:clr>
            <a:srgbClr val="5ACBF0"/>
          </p15:clr>
        </p15:guide>
        <p15:guide id="5" orient="horz" pos="3147">
          <p15:clr>
            <a:srgbClr val="5ACBF0"/>
          </p15:clr>
        </p15:guide>
        <p15:guide id="6" orient="horz" pos="419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Right s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BB27-7DA5-4478-8C18-C1FFEE20A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4040887" cy="49244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8965" y="1338139"/>
            <a:ext cx="4040185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205984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1763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0725" y="709187"/>
            <a:ext cx="5801961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18578402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45">
          <p15:clr>
            <a:srgbClr val="5ACBF0"/>
          </p15:clr>
        </p15:guide>
        <p15:guide id="4" orient="horz" pos="843">
          <p15:clr>
            <a:srgbClr val="5ACBF0"/>
          </p15:clr>
        </p15:guide>
        <p15:guide id="7" pos="3283">
          <p15:clr>
            <a:srgbClr val="5ACBF0"/>
          </p15:clr>
        </p15:guide>
        <p15:guide id="8" pos="3654">
          <p15:clr>
            <a:srgbClr val="5ACBF0"/>
          </p15:clr>
        </p15:guide>
        <p15:guide id="9" pos="2916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Left s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-2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B14A7D-C409-4A7C-9D82-A2E5DBB8AB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5549" y="457200"/>
            <a:ext cx="4031233" cy="49244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1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199" y="706011"/>
            <a:ext cx="5819775" cy="369332"/>
          </a:xfrm>
        </p:spPr>
        <p:txBody>
          <a:bodyPr/>
          <a:lstStyle>
            <a:lvl1pPr marL="0" indent="0">
              <a:buNone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75550" y="1336675"/>
            <a:ext cx="4033838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39864169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36">
          <p15:clr>
            <a:srgbClr val="5ACBF0"/>
          </p15:clr>
        </p15:guide>
        <p15:guide id="4" orient="horz" pos="839">
          <p15:clr>
            <a:srgbClr val="5ACBF0"/>
          </p15:clr>
        </p15:guide>
        <p15:guide id="6" pos="4402">
          <p15:clr>
            <a:srgbClr val="5ACBF0"/>
          </p15:clr>
        </p15:guide>
        <p15:guide id="7" pos="4034">
          <p15:clr>
            <a:srgbClr val="5ACBF0"/>
          </p15:clr>
        </p15:guide>
        <p15:guide id="8" pos="4772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64008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accent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64008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15560318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 2">
    <p:bg>
      <p:bgPr>
        <a:solidFill>
          <a:srgbClr val="D7D2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8127639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667512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accent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3E71AD-28C0-A891-7383-A422FAE8012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1008" r="8017" b="55921"/>
          <a:stretch>
            <a:fillRect/>
          </a:stretch>
        </p:blipFill>
        <p:spPr>
          <a:xfrm flipH="1">
            <a:off x="0" y="3744563"/>
            <a:ext cx="12192000" cy="3113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5566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846281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853595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52602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5197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advClick="0" advTm="8000"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 Notes slide Layou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 b="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6606D-2DF9-48CD-BBE9-B751BF55CD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white">
          <a:xfrm>
            <a:off x="584200" y="1436688"/>
            <a:ext cx="11018838" cy="2215991"/>
          </a:xfrm>
        </p:spPr>
        <p:txBody>
          <a:bodyPr>
            <a:spAutoFit/>
          </a:bodyPr>
          <a:lstStyle>
            <a:lvl1pPr>
              <a:defRPr sz="36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18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Next slide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269038"/>
            <a:ext cx="12192001" cy="588963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45720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solidFill>
                  <a:srgbClr val="000000"/>
                </a:soli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Next:</a:t>
            </a:r>
          </a:p>
        </p:txBody>
      </p:sp>
    </p:spTree>
    <p:extLst>
      <p:ext uri="{BB962C8B-B14F-4D97-AF65-F5344CB8AC3E}">
        <p14:creationId xmlns:p14="http://schemas.microsoft.com/office/powerpoint/2010/main" val="40654741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904">
          <p15:clr>
            <a:srgbClr val="5ACBF0"/>
          </p15:clr>
        </p15:guide>
        <p15:guide id="2" orient="horz" pos="288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 patter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530C24-163F-15BF-3D01-A8CA8BF268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056137"/>
      </p:ext>
    </p:extLst>
  </p:cSld>
  <p:clrMapOvr>
    <a:masterClrMapping/>
  </p:clrMapOvr>
  <p:transition advClick="0" advTm="8000"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93A7DCC4-90CB-5487-9CD7-96D3ADB3772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771300-CAF5-B6B5-CF45-EBEDBBBD5AC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2971" t="27592" r="22666" b="8704"/>
          <a:stretch>
            <a:fillRect/>
          </a:stretch>
        </p:blipFill>
        <p:spPr>
          <a:xfrm>
            <a:off x="293688" y="1892300"/>
            <a:ext cx="9066212" cy="436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230062"/>
      </p:ext>
    </p:extLst>
  </p:cSld>
  <p:clrMapOvr>
    <a:masterClrMapping/>
  </p:clrMapOvr>
  <p:transition advClick="0" advTm="8000"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white">
          <a:xfrm>
            <a:off x="584200" y="2425781"/>
            <a:ext cx="5577840" cy="1107996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Segoe Sans Display Semibold" pitchFamily="2" charset="0"/>
                <a:ea typeface="+mn-ea"/>
                <a:cs typeface="Segoe Sans Display Semibold" pitchFamily="2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84200" y="3962399"/>
            <a:ext cx="5577840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lang="en-US" sz="1800" kern="1200" spc="0" baseline="0" dirty="0">
                <a:solidFill>
                  <a:schemeClr val="tx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 dirty="0"/>
              <a:t>Speaker name or subtitle text</a:t>
            </a:r>
          </a:p>
        </p:txBody>
      </p:sp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8C97F8FC-6154-33A9-9E6C-1A787DA153C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791365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Segoe Sans Display Semibold" pitchFamily="2" charset="0"/>
                <a:cs typeface="Segoe Sans Display Semibold" pitchFamily="2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74FE235F-02A3-CF25-8716-2552AE8442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971518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384149223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4616589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386043030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820740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939153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7CBEB8-AFEF-362F-CB36-DC00FA4C6C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014902826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0440515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11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566595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4864217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922018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0936537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1223496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/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517723168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642262945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 dirty="0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52648237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ow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F619C2-B134-493A-AB9F-5DE39C929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343531980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765256976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30844171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679576568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014317633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27545422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3393662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 r:embed="rId5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159409043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blipFill>
            <a:blip r:embed="rId2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blipFill>
            <a:blip r:embed="rId3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E597A-BE1E-6B1F-960D-A90DC9544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64359835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blipFill>
            <a:blip r:embed="rId2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blipFill>
            <a:blip r:embed="rId3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blipFill>
            <a:blip r:embed="rId4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102478781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blipFill>
            <a:blip r:embed="rId2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blipFill>
            <a:blip r:embed="rId3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blipFill>
            <a:blip r:embed="rId4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blipFill>
            <a:blip r:embed="rId5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228863187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blipFill>
            <a:blip r:embed="rId2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blipFill>
            <a:blip r:embed="rId3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blipFill>
            <a:blip r:embed="rId4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blipFill>
            <a:blip r:embed="rId5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blipFill>
            <a:blip r:embed="rId6"/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80374138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974617677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blipFill>
            <a:blip r:embed="rId5"/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4193360559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363131278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2309812"/>
            <a:ext cx="3182027" cy="3959225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7473033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662311423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636FE-845C-418D-82A1-1DA6DB73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D46E0-16CE-40B0-8623-F82D5D41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1436688"/>
            <a:ext cx="12192000" cy="542131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4977AB6-1D7E-4858-A2EA-BF86577C39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3668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2099310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tabLst>
                <a:tab pos="344488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tabLst>
                <a:tab pos="569913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tabLst>
                <a:tab pos="8001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tabLst>
                <a:tab pos="10287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76101998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1322">
          <p15:clr>
            <a:srgbClr val="5ACBF0"/>
          </p15:clr>
        </p15:guide>
        <p15:guide id="2" orient="horz" pos="905">
          <p15:clr>
            <a:srgbClr val="5ACBF0"/>
          </p15:clr>
        </p15:guide>
        <p15:guide id="3" orient="horz" pos="288">
          <p15:clr>
            <a:srgbClr val="5ACBF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6390" y="1230681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2827138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2713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3491219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769482695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1776">
          <p15:clr>
            <a:srgbClr val="5ACBF0"/>
          </p15:clr>
        </p15:guide>
        <p15:guide id="5" orient="horz" pos="2197">
          <p15:clr>
            <a:srgbClr val="5ACBF0"/>
          </p15:clr>
        </p15:guide>
        <p15:guide id="6" orient="horz" pos="773">
          <p15:clr>
            <a:srgbClr val="5ACBF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224580"/>
            <a:ext cx="11018520" cy="49244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660508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1152" y="4996505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3154804997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2661">
          <p15:clr>
            <a:srgbClr val="5ACBF0"/>
          </p15:clr>
        </p15:guide>
        <p15:guide id="5" orient="horz" pos="3147">
          <p15:clr>
            <a:srgbClr val="5ACBF0"/>
          </p15:clr>
        </p15:guide>
        <p15:guide id="6" orient="horz" pos="419">
          <p15:clr>
            <a:srgbClr val="5ACBF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Right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BB27-7DA5-4478-8C18-C1FFEE20A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4040887" cy="49244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8965" y="1338139"/>
            <a:ext cx="4040185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205984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1763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0725" y="709187"/>
            <a:ext cx="5801961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2843266246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45">
          <p15:clr>
            <a:srgbClr val="5ACBF0"/>
          </p15:clr>
        </p15:guide>
        <p15:guide id="4" orient="horz" pos="843">
          <p15:clr>
            <a:srgbClr val="5ACBF0"/>
          </p15:clr>
        </p15:guide>
        <p15:guide id="7" pos="3283">
          <p15:clr>
            <a:srgbClr val="5ACBF0"/>
          </p15:clr>
        </p15:guide>
        <p15:guide id="8" pos="3654">
          <p15:clr>
            <a:srgbClr val="5ACBF0"/>
          </p15:clr>
        </p15:guide>
        <p15:guide id="9" pos="2916">
          <p15:clr>
            <a:srgbClr val="5ACBF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Left s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-2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B14A7D-C409-4A7C-9D82-A2E5DBB8AB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5549" y="457200"/>
            <a:ext cx="4031233" cy="49244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1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199" y="706011"/>
            <a:ext cx="5819775" cy="369332"/>
          </a:xfrm>
        </p:spPr>
        <p:txBody>
          <a:bodyPr/>
          <a:lstStyle>
            <a:lvl1pPr marL="0" indent="0">
              <a:buNone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75550" y="1336675"/>
            <a:ext cx="4033838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781401084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36">
          <p15:clr>
            <a:srgbClr val="5ACBF0"/>
          </p15:clr>
        </p15:guide>
        <p15:guide id="4" orient="horz" pos="839">
          <p15:clr>
            <a:srgbClr val="5ACBF0"/>
          </p15:clr>
        </p15:guide>
        <p15:guide id="6" pos="4402">
          <p15:clr>
            <a:srgbClr val="5ACBF0"/>
          </p15:clr>
        </p15:guide>
        <p15:guide id="7" pos="4034">
          <p15:clr>
            <a:srgbClr val="5ACBF0"/>
          </p15:clr>
        </p15:guide>
        <p15:guide id="8" pos="4772">
          <p15:clr>
            <a:srgbClr val="5ACBF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64008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rgbClr val="4EFFFE"/>
                </a:solidFill>
                <a:effectLst/>
                <a:latin typeface="Segoe Sans Display Semibold" pitchFamily="2" charset="0"/>
                <a:ea typeface="+mn-ea"/>
                <a:cs typeface="Segoe Sans Display Semibold" pitchFamily="2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64008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18596676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3559631928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667512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rgbClr val="4EFFFE"/>
                </a:solidFill>
                <a:effectLst/>
                <a:latin typeface="Segoe Sans Display Semibold" pitchFamily="2" charset="0"/>
                <a:ea typeface="+mn-ea"/>
                <a:cs typeface="Segoe Sans Display Semibold" pitchFamily="2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 dirty="0"/>
              <a:t>Section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E92415-D13E-5E6D-DBFD-80D73DF182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1008" r="8017" b="55921"/>
          <a:stretch>
            <a:fillRect/>
          </a:stretch>
        </p:blipFill>
        <p:spPr>
          <a:xfrm flipH="1">
            <a:off x="0" y="3744563"/>
            <a:ext cx="12192000" cy="3113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9858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673743591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1378634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83141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5808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advClick="0" advTm="8000">
    <p:fade/>
  </p:transition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 Note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 b="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6606D-2DF9-48CD-BBE9-B751BF55CD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white">
          <a:xfrm>
            <a:off x="584200" y="1436688"/>
            <a:ext cx="11018838" cy="2215991"/>
          </a:xfrm>
        </p:spPr>
        <p:txBody>
          <a:bodyPr>
            <a:spAutoFit/>
          </a:bodyPr>
          <a:lstStyle>
            <a:lvl1pPr>
              <a:defRPr sz="36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18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Next slide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269038"/>
            <a:ext cx="12192001" cy="588963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45720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solidFill>
                  <a:srgbClr val="000000"/>
                </a:soli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Next:</a:t>
            </a:r>
          </a:p>
        </p:txBody>
      </p:sp>
    </p:spTree>
    <p:extLst>
      <p:ext uri="{BB962C8B-B14F-4D97-AF65-F5344CB8AC3E}">
        <p14:creationId xmlns:p14="http://schemas.microsoft.com/office/powerpoint/2010/main" val="4052310958"/>
      </p:ext>
    </p:extLst>
  </p:cSld>
  <p:clrMapOvr>
    <a:masterClrMapping/>
  </p:clrMapOvr>
  <p:transition advClick="0" advTm="8000">
    <p:fade/>
  </p:transition>
  <p:extLst>
    <p:ext uri="{DCECCB84-F9BA-43D5-87BE-67443E8EF086}">
      <p15:sldGuideLst xmlns:p15="http://schemas.microsoft.com/office/powerpoint/2012/main">
        <p15:guide id="1" orient="horz" pos="904">
          <p15:clr>
            <a:srgbClr val="5ACBF0"/>
          </p15:clr>
        </p15:guide>
        <p15:guide id="2" orient="horz" pos="288">
          <p15:clr>
            <a:srgbClr val="5ACBF0"/>
          </p15:clr>
        </p15:guide>
      </p15:sldGuideLst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 patter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530C24-163F-15BF-3D01-A8CA8BF268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929718"/>
      </p:ext>
    </p:extLst>
  </p:cSld>
  <p:clrMapOvr>
    <a:masterClrMapping/>
  </p:clrMapOvr>
  <p:transition advClick="0" advTm="8000"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2.xml"/><Relationship Id="rId18" Type="http://schemas.openxmlformats.org/officeDocument/2006/relationships/slideLayout" Target="../slideLayouts/slideLayout67.xml"/><Relationship Id="rId26" Type="http://schemas.openxmlformats.org/officeDocument/2006/relationships/slideLayout" Target="../slideLayouts/slideLayout75.xml"/><Relationship Id="rId39" Type="http://schemas.openxmlformats.org/officeDocument/2006/relationships/slideLayout" Target="../slideLayouts/slideLayout88.xml"/><Relationship Id="rId21" Type="http://schemas.openxmlformats.org/officeDocument/2006/relationships/slideLayout" Target="../slideLayouts/slideLayout70.xml"/><Relationship Id="rId34" Type="http://schemas.openxmlformats.org/officeDocument/2006/relationships/slideLayout" Target="../slideLayouts/slideLayout83.xml"/><Relationship Id="rId42" Type="http://schemas.openxmlformats.org/officeDocument/2006/relationships/slideLayout" Target="../slideLayouts/slideLayout91.xml"/><Relationship Id="rId47" Type="http://schemas.openxmlformats.org/officeDocument/2006/relationships/slideLayout" Target="../slideLayouts/slideLayout96.xml"/><Relationship Id="rId50" Type="http://schemas.openxmlformats.org/officeDocument/2006/relationships/theme" Target="../theme/theme2.xml"/><Relationship Id="rId7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1.xml"/><Relationship Id="rId16" Type="http://schemas.openxmlformats.org/officeDocument/2006/relationships/slideLayout" Target="../slideLayouts/slideLayout65.xml"/><Relationship Id="rId29" Type="http://schemas.openxmlformats.org/officeDocument/2006/relationships/slideLayout" Target="../slideLayouts/slideLayout78.xml"/><Relationship Id="rId11" Type="http://schemas.openxmlformats.org/officeDocument/2006/relationships/slideLayout" Target="../slideLayouts/slideLayout60.xml"/><Relationship Id="rId24" Type="http://schemas.openxmlformats.org/officeDocument/2006/relationships/slideLayout" Target="../slideLayouts/slideLayout73.xml"/><Relationship Id="rId32" Type="http://schemas.openxmlformats.org/officeDocument/2006/relationships/slideLayout" Target="../slideLayouts/slideLayout81.xml"/><Relationship Id="rId37" Type="http://schemas.openxmlformats.org/officeDocument/2006/relationships/slideLayout" Target="../slideLayouts/slideLayout86.xml"/><Relationship Id="rId40" Type="http://schemas.openxmlformats.org/officeDocument/2006/relationships/slideLayout" Target="../slideLayouts/slideLayout89.xml"/><Relationship Id="rId45" Type="http://schemas.openxmlformats.org/officeDocument/2006/relationships/slideLayout" Target="../slideLayouts/slideLayout94.xml"/><Relationship Id="rId5" Type="http://schemas.openxmlformats.org/officeDocument/2006/relationships/slideLayout" Target="../slideLayouts/slideLayout54.xml"/><Relationship Id="rId15" Type="http://schemas.openxmlformats.org/officeDocument/2006/relationships/slideLayout" Target="../slideLayouts/slideLayout64.xml"/><Relationship Id="rId23" Type="http://schemas.openxmlformats.org/officeDocument/2006/relationships/slideLayout" Target="../slideLayouts/slideLayout72.xml"/><Relationship Id="rId28" Type="http://schemas.openxmlformats.org/officeDocument/2006/relationships/slideLayout" Target="../slideLayouts/slideLayout77.xml"/><Relationship Id="rId36" Type="http://schemas.openxmlformats.org/officeDocument/2006/relationships/slideLayout" Target="../slideLayouts/slideLayout85.xml"/><Relationship Id="rId49" Type="http://schemas.openxmlformats.org/officeDocument/2006/relationships/slideLayout" Target="../slideLayouts/slideLayout98.xml"/><Relationship Id="rId10" Type="http://schemas.openxmlformats.org/officeDocument/2006/relationships/slideLayout" Target="../slideLayouts/slideLayout59.xml"/><Relationship Id="rId19" Type="http://schemas.openxmlformats.org/officeDocument/2006/relationships/slideLayout" Target="../slideLayouts/slideLayout68.xml"/><Relationship Id="rId31" Type="http://schemas.openxmlformats.org/officeDocument/2006/relationships/slideLayout" Target="../slideLayouts/slideLayout80.xml"/><Relationship Id="rId44" Type="http://schemas.openxmlformats.org/officeDocument/2006/relationships/slideLayout" Target="../slideLayouts/slideLayout93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63.xml"/><Relationship Id="rId22" Type="http://schemas.openxmlformats.org/officeDocument/2006/relationships/slideLayout" Target="../slideLayouts/slideLayout71.xml"/><Relationship Id="rId27" Type="http://schemas.openxmlformats.org/officeDocument/2006/relationships/slideLayout" Target="../slideLayouts/slideLayout76.xml"/><Relationship Id="rId30" Type="http://schemas.openxmlformats.org/officeDocument/2006/relationships/slideLayout" Target="../slideLayouts/slideLayout79.xml"/><Relationship Id="rId35" Type="http://schemas.openxmlformats.org/officeDocument/2006/relationships/slideLayout" Target="../slideLayouts/slideLayout84.xml"/><Relationship Id="rId43" Type="http://schemas.openxmlformats.org/officeDocument/2006/relationships/slideLayout" Target="../slideLayouts/slideLayout92.xml"/><Relationship Id="rId48" Type="http://schemas.openxmlformats.org/officeDocument/2006/relationships/slideLayout" Target="../slideLayouts/slideLayout97.xml"/><Relationship Id="rId8" Type="http://schemas.openxmlformats.org/officeDocument/2006/relationships/slideLayout" Target="../slideLayouts/slideLayout57.xml"/><Relationship Id="rId51" Type="http://schemas.openxmlformats.org/officeDocument/2006/relationships/image" Target="../media/image1.svg"/><Relationship Id="rId3" Type="http://schemas.openxmlformats.org/officeDocument/2006/relationships/slideLayout" Target="../slideLayouts/slideLayout52.xml"/><Relationship Id="rId12" Type="http://schemas.openxmlformats.org/officeDocument/2006/relationships/slideLayout" Target="../slideLayouts/slideLayout61.xml"/><Relationship Id="rId17" Type="http://schemas.openxmlformats.org/officeDocument/2006/relationships/slideLayout" Target="../slideLayouts/slideLayout66.xml"/><Relationship Id="rId25" Type="http://schemas.openxmlformats.org/officeDocument/2006/relationships/slideLayout" Target="../slideLayouts/slideLayout74.xml"/><Relationship Id="rId33" Type="http://schemas.openxmlformats.org/officeDocument/2006/relationships/slideLayout" Target="../slideLayouts/slideLayout82.xml"/><Relationship Id="rId38" Type="http://schemas.openxmlformats.org/officeDocument/2006/relationships/slideLayout" Target="../slideLayouts/slideLayout87.xml"/><Relationship Id="rId46" Type="http://schemas.openxmlformats.org/officeDocument/2006/relationships/slideLayout" Target="../slideLayouts/slideLayout95.xml"/><Relationship Id="rId20" Type="http://schemas.openxmlformats.org/officeDocument/2006/relationships/slideLayout" Target="../slideLayouts/slideLayout69.xml"/><Relationship Id="rId41" Type="http://schemas.openxmlformats.org/officeDocument/2006/relationships/slideLayout" Target="../slideLayouts/slideLayout90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689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607" r:id="rId1"/>
    <p:sldLayoutId id="2147485450" r:id="rId2"/>
    <p:sldLayoutId id="2147485451" r:id="rId3"/>
    <p:sldLayoutId id="2147485452" r:id="rId4"/>
    <p:sldLayoutId id="2147485453" r:id="rId5"/>
    <p:sldLayoutId id="2147485454" r:id="rId6"/>
    <p:sldLayoutId id="2147485455" r:id="rId7"/>
    <p:sldLayoutId id="2147485456" r:id="rId8"/>
    <p:sldLayoutId id="2147485457" r:id="rId9"/>
    <p:sldLayoutId id="2147485458" r:id="rId10"/>
    <p:sldLayoutId id="2147485459" r:id="rId11"/>
    <p:sldLayoutId id="2147485460" r:id="rId12"/>
    <p:sldLayoutId id="2147485461" r:id="rId13"/>
    <p:sldLayoutId id="2147485462" r:id="rId14"/>
    <p:sldLayoutId id="2147485463" r:id="rId15"/>
    <p:sldLayoutId id="2147485464" r:id="rId16"/>
    <p:sldLayoutId id="2147485465" r:id="rId17"/>
    <p:sldLayoutId id="2147485466" r:id="rId18"/>
    <p:sldLayoutId id="2147485467" r:id="rId19"/>
    <p:sldLayoutId id="2147485468" r:id="rId20"/>
    <p:sldLayoutId id="2147485469" r:id="rId21"/>
    <p:sldLayoutId id="2147485470" r:id="rId22"/>
    <p:sldLayoutId id="2147485471" r:id="rId23"/>
    <p:sldLayoutId id="2147485472" r:id="rId24"/>
    <p:sldLayoutId id="2147485473" r:id="rId25"/>
    <p:sldLayoutId id="2147485474" r:id="rId26"/>
    <p:sldLayoutId id="2147485475" r:id="rId27"/>
    <p:sldLayoutId id="2147485476" r:id="rId28"/>
    <p:sldLayoutId id="2147485477" r:id="rId29"/>
    <p:sldLayoutId id="2147485478" r:id="rId30"/>
    <p:sldLayoutId id="2147485479" r:id="rId31"/>
    <p:sldLayoutId id="2147485480" r:id="rId32"/>
    <p:sldLayoutId id="2147485481" r:id="rId33"/>
    <p:sldLayoutId id="2147485482" r:id="rId34"/>
    <p:sldLayoutId id="2147485483" r:id="rId35"/>
    <p:sldLayoutId id="2147485484" r:id="rId36"/>
    <p:sldLayoutId id="2147485485" r:id="rId37"/>
    <p:sldLayoutId id="2147485486" r:id="rId38"/>
    <p:sldLayoutId id="2147485487" r:id="rId39"/>
    <p:sldLayoutId id="2147485488" r:id="rId40"/>
    <p:sldLayoutId id="2147485489" r:id="rId41"/>
    <p:sldLayoutId id="2147485490" r:id="rId42"/>
    <p:sldLayoutId id="2147485491" r:id="rId43"/>
    <p:sldLayoutId id="2147485492" r:id="rId44"/>
    <p:sldLayoutId id="2147485493" r:id="rId45"/>
    <p:sldLayoutId id="2147485494" r:id="rId46"/>
    <p:sldLayoutId id="2147485495" r:id="rId47"/>
    <p:sldLayoutId id="2147485496" r:id="rId48"/>
    <p:sldLayoutId id="2147485603" r:id="rId49"/>
  </p:sldLayoutIdLst>
  <p:transition advClick="0" advTm="8000"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>
          <p15:clr>
            <a:srgbClr val="C35EA4"/>
          </p15:clr>
        </p15:guide>
        <p15:guide id="17" pos="7313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85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95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6317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5601" r:id="rId1"/>
    <p:sldLayoutId id="2147485554" r:id="rId2"/>
    <p:sldLayoutId id="2147485555" r:id="rId3"/>
    <p:sldLayoutId id="2147485556" r:id="rId4"/>
    <p:sldLayoutId id="2147485557" r:id="rId5"/>
    <p:sldLayoutId id="2147485558" r:id="rId6"/>
    <p:sldLayoutId id="2147485559" r:id="rId7"/>
    <p:sldLayoutId id="2147485560" r:id="rId8"/>
    <p:sldLayoutId id="2147485561" r:id="rId9"/>
    <p:sldLayoutId id="2147485562" r:id="rId10"/>
    <p:sldLayoutId id="2147485563" r:id="rId11"/>
    <p:sldLayoutId id="2147485564" r:id="rId12"/>
    <p:sldLayoutId id="2147485565" r:id="rId13"/>
    <p:sldLayoutId id="2147485566" r:id="rId14"/>
    <p:sldLayoutId id="2147485567" r:id="rId15"/>
    <p:sldLayoutId id="2147485568" r:id="rId16"/>
    <p:sldLayoutId id="2147485569" r:id="rId17"/>
    <p:sldLayoutId id="2147485570" r:id="rId18"/>
    <p:sldLayoutId id="2147485571" r:id="rId19"/>
    <p:sldLayoutId id="2147485572" r:id="rId20"/>
    <p:sldLayoutId id="2147485573" r:id="rId21"/>
    <p:sldLayoutId id="2147485574" r:id="rId22"/>
    <p:sldLayoutId id="2147485575" r:id="rId23"/>
    <p:sldLayoutId id="2147485576" r:id="rId24"/>
    <p:sldLayoutId id="2147485577" r:id="rId25"/>
    <p:sldLayoutId id="2147485578" r:id="rId26"/>
    <p:sldLayoutId id="2147485579" r:id="rId27"/>
    <p:sldLayoutId id="2147485580" r:id="rId28"/>
    <p:sldLayoutId id="2147485581" r:id="rId29"/>
    <p:sldLayoutId id="2147485582" r:id="rId30"/>
    <p:sldLayoutId id="2147485583" r:id="rId31"/>
    <p:sldLayoutId id="2147485584" r:id="rId32"/>
    <p:sldLayoutId id="2147485585" r:id="rId33"/>
    <p:sldLayoutId id="2147485586" r:id="rId34"/>
    <p:sldLayoutId id="2147485587" r:id="rId35"/>
    <p:sldLayoutId id="2147485588" r:id="rId36"/>
    <p:sldLayoutId id="2147485589" r:id="rId37"/>
    <p:sldLayoutId id="2147485590" r:id="rId38"/>
    <p:sldLayoutId id="2147485591" r:id="rId39"/>
    <p:sldLayoutId id="2147485592" r:id="rId40"/>
    <p:sldLayoutId id="2147485593" r:id="rId41"/>
    <p:sldLayoutId id="2147485594" r:id="rId42"/>
    <p:sldLayoutId id="2147485595" r:id="rId43"/>
    <p:sldLayoutId id="2147485596" r:id="rId44"/>
    <p:sldLayoutId id="2147485597" r:id="rId45"/>
    <p:sldLayoutId id="2147485598" r:id="rId46"/>
    <p:sldLayoutId id="2147485599" r:id="rId47"/>
    <p:sldLayoutId id="2147485600" r:id="rId48"/>
    <p:sldLayoutId id="2147485602" r:id="rId49"/>
  </p:sldLayoutIdLst>
  <p:transition advClick="0" advTm="8000"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>
          <p15:clr>
            <a:srgbClr val="C35EA4"/>
          </p15:clr>
        </p15:guide>
        <p15:guide id="17" pos="7313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85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95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1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9D57F-076E-AA58-BDFF-8F3981582F1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88263" y="-630197"/>
            <a:ext cx="11018520" cy="553998"/>
          </a:xfrm>
        </p:spPr>
        <p:txBody>
          <a:bodyPr/>
          <a:lstStyle/>
          <a:p>
            <a:r>
              <a:rPr lang="en-US" dirty="0">
                <a:noFill/>
              </a:rPr>
              <a:t>Microsoft Build</a:t>
            </a:r>
          </a:p>
        </p:txBody>
      </p:sp>
    </p:spTree>
    <p:extLst>
      <p:ext uri="{BB962C8B-B14F-4D97-AF65-F5344CB8AC3E}">
        <p14:creationId xmlns:p14="http://schemas.microsoft.com/office/powerpoint/2010/main" val="1170936702"/>
      </p:ext>
    </p:extLst>
  </p:cSld>
  <p:clrMapOvr>
    <a:masterClrMapping/>
  </p:clrMapOvr>
  <p:transition advClick="0" advTm="80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4587BA9-5A80-3F66-8EBC-3DB36596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5" y="2146826"/>
            <a:ext cx="7632809" cy="1384995"/>
          </a:xfrm>
        </p:spPr>
        <p:txBody>
          <a:bodyPr/>
          <a:lstStyle/>
          <a:p>
            <a:r>
              <a:rPr lang="en-US" sz="5000" dirty="0"/>
              <a:t>Fine-tuning &amp; adaption</a:t>
            </a:r>
          </a:p>
        </p:txBody>
      </p:sp>
    </p:spTree>
    <p:extLst>
      <p:ext uri="{BB962C8B-B14F-4D97-AF65-F5344CB8AC3E}">
        <p14:creationId xmlns:p14="http://schemas.microsoft.com/office/powerpoint/2010/main" val="3307292884"/>
      </p:ext>
    </p:extLst>
  </p:cSld>
  <p:clrMapOvr>
    <a:masterClrMapping/>
  </p:clrMapOvr>
  <p:transition advClick="0" advTm="8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8794A-5DE0-97CF-DC6D-482B13ACE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199" y="2918224"/>
            <a:ext cx="8907041" cy="615553"/>
          </a:xfrm>
        </p:spPr>
        <p:txBody>
          <a:bodyPr/>
          <a:lstStyle/>
          <a:p>
            <a:pPr fontAlgn="t"/>
            <a:r>
              <a:rPr lang="en-US" dirty="0"/>
              <a:t>Turn real usage into better agents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058117-D3B0-C290-8939-01F451C213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4200" y="3962399"/>
            <a:ext cx="8907040" cy="1231106"/>
          </a:xfrm>
        </p:spPr>
        <p:txBody>
          <a:bodyPr/>
          <a:lstStyle/>
          <a:p>
            <a:pPr fontAlgn="t">
              <a:lnSpc>
                <a:spcPts val="3200"/>
              </a:lnSpc>
              <a:spcBef>
                <a:spcPts val="600"/>
              </a:spcBef>
            </a:pPr>
            <a:r>
              <a:rPr lang="en-US" sz="2400" dirty="0"/>
              <a:t>Fine‑tuning, distillation, and reinforcement learning transform production traces into continuously improving models; delivering higher quality, lower cost, and more reliable agents over time.</a:t>
            </a:r>
            <a:endParaRPr lang="en-US" sz="2500" dirty="0"/>
          </a:p>
        </p:txBody>
      </p:sp>
    </p:spTree>
    <p:extLst>
      <p:ext uri="{BB962C8B-B14F-4D97-AF65-F5344CB8AC3E}">
        <p14:creationId xmlns:p14="http://schemas.microsoft.com/office/powerpoint/2010/main" val="4121053622"/>
      </p:ext>
    </p:extLst>
  </p:cSld>
  <p:clrMapOvr>
    <a:masterClrMapping/>
  </p:clrMapOvr>
  <p:transition advClick="0" advTm="80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8859DC9-C1C4-081F-BDD7-66870D41F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Sessions</a:t>
            </a:r>
          </a:p>
        </p:txBody>
      </p:sp>
    </p:spTree>
    <p:extLst>
      <p:ext uri="{BB962C8B-B14F-4D97-AF65-F5344CB8AC3E}">
        <p14:creationId xmlns:p14="http://schemas.microsoft.com/office/powerpoint/2010/main" val="887311224"/>
      </p:ext>
    </p:extLst>
  </p:cSld>
  <p:clrMapOvr>
    <a:masterClrMapping/>
  </p:clrMapOvr>
  <p:transition advClick="0" advTm="80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4BBD7-7934-75AD-39AB-61BAA2A99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2">
            <a:extLst>
              <a:ext uri="{FF2B5EF4-FFF2-40B4-BE49-F238E27FC236}">
                <a16:creationId xmlns:a16="http://schemas.microsoft.com/office/drawing/2014/main" id="{3513D941-CF2D-0CCA-7D23-40CB97B0CC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/>
        </p:nvSpPr>
        <p:spPr bwMode="auto">
          <a:xfrm>
            <a:off x="2964330" y="1027343"/>
            <a:ext cx="6401991" cy="590217"/>
          </a:xfrm>
          <a:prstGeom prst="roundRect">
            <a:avLst>
              <a:gd name="adj" fmla="val 27713"/>
            </a:avLst>
          </a:prstGeom>
          <a:gradFill flip="none" rotWithShape="1">
            <a:gsLst>
              <a:gs pos="80000">
                <a:srgbClr val="00A5BB"/>
              </a:gs>
              <a:gs pos="0">
                <a:srgbClr val="FCE906"/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wrap="square" lIns="137160" tIns="27432" rIns="137160" bIns="54864" rtlCol="0" anchor="ctr" anchorCtr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18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85828" fontAlgn="base">
              <a:spcAft>
                <a:spcPct val="0"/>
              </a:spcAft>
              <a:tabLst>
                <a:tab pos="1115369" algn="l"/>
              </a:tabLst>
            </a:pPr>
            <a:r>
              <a:rPr lang="en-US" sz="2700" b="1" spc="0" dirty="0">
                <a:solidFill>
                  <a:schemeClr val="bg1"/>
                </a:solidFill>
                <a:latin typeface="Segoe UI Variable Display Semib" pitchFamily="2" charset="0"/>
              </a:rPr>
              <a:t>Breakout, Lab &amp; Demo sessions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F0BD63-331B-1ECF-C9C1-787FF51CEE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015642"/>
              </p:ext>
            </p:extLst>
          </p:nvPr>
        </p:nvGraphicFramePr>
        <p:xfrm>
          <a:off x="393539" y="2166989"/>
          <a:ext cx="10741307" cy="44295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29085">
                  <a:extLst>
                    <a:ext uri="{9D8B030D-6E8A-4147-A177-3AD203B41FA5}">
                      <a16:colId xmlns:a16="http://schemas.microsoft.com/office/drawing/2014/main" val="3578726739"/>
                    </a:ext>
                  </a:extLst>
                </a:gridCol>
                <a:gridCol w="5411553">
                  <a:extLst>
                    <a:ext uri="{9D8B030D-6E8A-4147-A177-3AD203B41FA5}">
                      <a16:colId xmlns:a16="http://schemas.microsoft.com/office/drawing/2014/main" val="3035375897"/>
                    </a:ext>
                  </a:extLst>
                </a:gridCol>
                <a:gridCol w="1979271">
                  <a:extLst>
                    <a:ext uri="{9D8B030D-6E8A-4147-A177-3AD203B41FA5}">
                      <a16:colId xmlns:a16="http://schemas.microsoft.com/office/drawing/2014/main" val="1714154667"/>
                    </a:ext>
                  </a:extLst>
                </a:gridCol>
                <a:gridCol w="1921398">
                  <a:extLst>
                    <a:ext uri="{9D8B030D-6E8A-4147-A177-3AD203B41FA5}">
                      <a16:colId xmlns:a16="http://schemas.microsoft.com/office/drawing/2014/main" val="3825551356"/>
                    </a:ext>
                  </a:extLst>
                </a:gridCol>
              </a:tblGrid>
              <a:tr h="14202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LAB521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sng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Improving agent behavior using reinforcement learning from traces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Tue, </a:t>
                      </a:r>
                      <a:r>
                        <a:rPr lang="nn-NO" sz="15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Jun</a:t>
                      </a: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 2</a:t>
                      </a:r>
                    </a:p>
                    <a:p>
                      <a:pPr algn="l" fontAlgn="b">
                        <a:buNone/>
                      </a:pP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12:30 PM - 1:45 PM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Gateway </a:t>
                      </a:r>
                      <a:r>
                        <a:rPr lang="nn-NO" sz="15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Pavilion</a:t>
                      </a: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, Level 1, Lab 1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63981675"/>
                  </a:ext>
                </a:extLst>
              </a:tr>
              <a:tr h="15046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BRK231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sng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Deploy. Observe. Learn. Reinforcement learning for production agents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Tue, Jun 2</a:t>
                      </a:r>
                    </a:p>
                    <a:p>
                      <a:pPr algn="l" fontAlgn="b">
                        <a:buNone/>
                      </a:pPr>
                      <a:r>
                        <a:rPr lang="fr-FR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3:45 PM - 4:30 PM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Festival </a:t>
                      </a:r>
                      <a:r>
                        <a:rPr lang="fr-FR" sz="15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Pavilion</a:t>
                      </a:r>
                      <a:r>
                        <a:rPr lang="fr-FR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, </a:t>
                      </a:r>
                      <a:r>
                        <a:rPr lang="fr-FR" sz="15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Breakout</a:t>
                      </a:r>
                      <a:r>
                        <a:rPr lang="fr-FR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2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0001857"/>
                  </a:ext>
                </a:extLst>
              </a:tr>
              <a:tr h="15046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LTG418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sng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Smarter training patterns for better AI models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Tue, Jun 2</a:t>
                      </a:r>
                    </a:p>
                    <a:p>
                      <a:pPr algn="l" fontAlgn="b">
                        <a:buNone/>
                      </a:pPr>
                      <a:r>
                        <a:rPr lang="fr-FR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4:30 PM - 4:45 PM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Gateway </a:t>
                      </a:r>
                      <a:r>
                        <a:rPr lang="nn-NO" sz="15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Pavilion</a:t>
                      </a: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, Level 2, Theater 3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325576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376AB54-3507-76F3-ADF4-74BE638FDF80}"/>
              </a:ext>
            </a:extLst>
          </p:cNvPr>
          <p:cNvSpPr txBox="1"/>
          <p:nvPr/>
        </p:nvSpPr>
        <p:spPr>
          <a:xfrm>
            <a:off x="9496802" y="939065"/>
            <a:ext cx="1159777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699354" fontAlgn="base">
              <a:spcBef>
                <a:spcPct val="0"/>
              </a:spcBef>
              <a:spcAft>
                <a:spcPct val="0"/>
              </a:spcAft>
            </a:pPr>
            <a:r>
              <a:rPr lang="en-US" sz="750">
                <a:solidFill>
                  <a:schemeClr val="bg1"/>
                </a:solidFill>
              </a:rPr>
              <a:t>Microsoft Confidential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32B6C878-48A4-81C1-0FFF-55C5628D012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/>
        </p:nvSpPr>
        <p:spPr bwMode="auto">
          <a:xfrm>
            <a:off x="287022" y="1813588"/>
            <a:ext cx="1514711" cy="353401"/>
          </a:xfrm>
          <a:prstGeom prst="roundRect">
            <a:avLst>
              <a:gd name="adj" fmla="val 27713"/>
            </a:avLst>
          </a:prstGeom>
          <a:gradFill flip="none" rotWithShape="1">
            <a:gsLst>
              <a:gs pos="80000">
                <a:srgbClr val="00A5BB"/>
              </a:gs>
              <a:gs pos="0">
                <a:srgbClr val="FCE906"/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wrap="square" lIns="137160" tIns="27432" rIns="137160" bIns="54864" rtlCol="0" anchor="ctr" anchorCtr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18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85828" fontAlgn="base">
              <a:spcAft>
                <a:spcPct val="0"/>
              </a:spcAft>
              <a:tabLst>
                <a:tab pos="1115369" algn="l"/>
              </a:tabLst>
            </a:pPr>
            <a:r>
              <a:rPr lang="en-US" sz="1400" b="1" spc="0" dirty="0">
                <a:solidFill>
                  <a:schemeClr val="bg1"/>
                </a:solidFill>
                <a:latin typeface="Segoe UI Variable Display Semib" pitchFamily="2" charset="0"/>
              </a:rPr>
              <a:t>Day 1</a:t>
            </a:r>
          </a:p>
        </p:txBody>
      </p:sp>
    </p:spTree>
    <p:extLst>
      <p:ext uri="{BB962C8B-B14F-4D97-AF65-F5344CB8AC3E}">
        <p14:creationId xmlns:p14="http://schemas.microsoft.com/office/powerpoint/2010/main" val="3100905477"/>
      </p:ext>
    </p:extLst>
  </p:cSld>
  <p:clrMapOvr>
    <a:masterClrMapping/>
  </p:clrMapOvr>
  <p:transition advClick="0" advTm="80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40B2A-0951-371B-0E38-9A2AEB0AC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F8E369EE-A8C4-AD85-4810-BCBC522D4E7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/>
        </p:nvSpPr>
        <p:spPr bwMode="auto">
          <a:xfrm>
            <a:off x="287021" y="1809951"/>
            <a:ext cx="1514711" cy="353401"/>
          </a:xfrm>
          <a:prstGeom prst="roundRect">
            <a:avLst>
              <a:gd name="adj" fmla="val 27713"/>
            </a:avLst>
          </a:prstGeom>
          <a:gradFill flip="none" rotWithShape="1">
            <a:gsLst>
              <a:gs pos="80000">
                <a:srgbClr val="00A5BB"/>
              </a:gs>
              <a:gs pos="0">
                <a:srgbClr val="D745ED"/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wrap="square" lIns="137160" tIns="27432" rIns="137160" bIns="54864" rtlCol="0" anchor="ctr" anchorCtr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18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85828" fontAlgn="base">
              <a:spcAft>
                <a:spcPct val="0"/>
              </a:spcAft>
              <a:tabLst>
                <a:tab pos="1115369" algn="l"/>
              </a:tabLst>
            </a:pPr>
            <a:r>
              <a:rPr lang="en-US" sz="1400" b="1" spc="0" dirty="0">
                <a:solidFill>
                  <a:schemeClr val="bg1"/>
                </a:solidFill>
                <a:latin typeface="Segoe UI Variable Display Semib" pitchFamily="2" charset="0"/>
              </a:rPr>
              <a:t>Day 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37ABCB-476C-7532-EFD3-1D3FE89A0BF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/>
        </p:nvSpPr>
        <p:spPr bwMode="auto">
          <a:xfrm>
            <a:off x="2964329" y="1031364"/>
            <a:ext cx="6401991" cy="590217"/>
          </a:xfrm>
          <a:prstGeom prst="roundRect">
            <a:avLst>
              <a:gd name="adj" fmla="val 27713"/>
            </a:avLst>
          </a:prstGeom>
          <a:gradFill flip="none" rotWithShape="1">
            <a:gsLst>
              <a:gs pos="80000">
                <a:srgbClr val="00A5BB"/>
              </a:gs>
              <a:gs pos="0">
                <a:srgbClr val="D745ED"/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wrap="square" lIns="137160" tIns="27432" rIns="137160" bIns="54864" rtlCol="0" anchor="ctr" anchorCtr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18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85828" fontAlgn="base">
              <a:spcAft>
                <a:spcPct val="0"/>
              </a:spcAft>
              <a:tabLst>
                <a:tab pos="1115369" algn="l"/>
              </a:tabLst>
            </a:pPr>
            <a:r>
              <a:rPr lang="en-US" sz="2700" b="1" spc="0" dirty="0">
                <a:solidFill>
                  <a:schemeClr val="bg1"/>
                </a:solidFill>
                <a:latin typeface="Segoe UI Variable Display Semib" pitchFamily="2" charset="0"/>
              </a:rPr>
              <a:t>Breakout, Lab &amp; Demo sessions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87E66A5-9BE1-C828-4E3E-F29DCCDA02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90151"/>
              </p:ext>
            </p:extLst>
          </p:nvPr>
        </p:nvGraphicFramePr>
        <p:xfrm>
          <a:off x="393539" y="2166989"/>
          <a:ext cx="10741307" cy="44295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29085">
                  <a:extLst>
                    <a:ext uri="{9D8B030D-6E8A-4147-A177-3AD203B41FA5}">
                      <a16:colId xmlns:a16="http://schemas.microsoft.com/office/drawing/2014/main" val="3578726739"/>
                    </a:ext>
                  </a:extLst>
                </a:gridCol>
                <a:gridCol w="5411553">
                  <a:extLst>
                    <a:ext uri="{9D8B030D-6E8A-4147-A177-3AD203B41FA5}">
                      <a16:colId xmlns:a16="http://schemas.microsoft.com/office/drawing/2014/main" val="3035375897"/>
                    </a:ext>
                  </a:extLst>
                </a:gridCol>
                <a:gridCol w="1979271">
                  <a:extLst>
                    <a:ext uri="{9D8B030D-6E8A-4147-A177-3AD203B41FA5}">
                      <a16:colId xmlns:a16="http://schemas.microsoft.com/office/drawing/2014/main" val="1714154667"/>
                    </a:ext>
                  </a:extLst>
                </a:gridCol>
                <a:gridCol w="1921398">
                  <a:extLst>
                    <a:ext uri="{9D8B030D-6E8A-4147-A177-3AD203B41FA5}">
                      <a16:colId xmlns:a16="http://schemas.microsoft.com/office/drawing/2014/main" val="3825551356"/>
                    </a:ext>
                  </a:extLst>
                </a:gridCol>
              </a:tblGrid>
              <a:tr h="1420272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BRKSP91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800" b="0" i="0" u="sng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Turn foundation models into production AI on Microsoft Foundry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nn-NO" sz="15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Wed</a:t>
                      </a: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, </a:t>
                      </a:r>
                      <a:r>
                        <a:rPr lang="nn-NO" sz="15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Jun</a:t>
                      </a: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 3</a:t>
                      </a:r>
                    </a:p>
                    <a:p>
                      <a:pPr lvl="0" algn="l">
                        <a:buNone/>
                      </a:pPr>
                      <a:endParaRPr lang="nn-NO" sz="15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Segoe UI"/>
                      </a:endParaRPr>
                    </a:p>
                    <a:p>
                      <a:pPr lvl="0" algn="l">
                        <a:buNone/>
                      </a:pP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11:30 AM - 12:15 PM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defTabSz="932742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Festival </a:t>
                      </a:r>
                      <a:r>
                        <a:rPr lang="nn-NO" sz="15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Pavilion</a:t>
                      </a: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, </a:t>
                      </a:r>
                      <a:r>
                        <a:rPr lang="nn-NO" sz="15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Breakout</a:t>
                      </a: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 3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63981675"/>
                  </a:ext>
                </a:extLst>
              </a:tr>
              <a:tr h="15046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 panose="020B0502040204020203" pitchFamily="34" charset="0"/>
                        </a:rPr>
                        <a:t>DEM322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sng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 panose="020B0502040204020203" pitchFamily="34" charset="0"/>
                        </a:rPr>
                        <a:t>Smaller, faster, smarter: Distilling models with fine‑tuning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n-NO" sz="15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Wed</a:t>
                      </a: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, </a:t>
                      </a:r>
                      <a:r>
                        <a:rPr lang="nn-NO" sz="15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Jun</a:t>
                      </a: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 3</a:t>
                      </a:r>
                    </a:p>
                    <a:p>
                      <a:pPr algn="l" fontAlgn="b">
                        <a:buNone/>
                      </a:pPr>
                      <a:endParaRPr lang="nn-NO" sz="15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Segoe UI" panose="020B0502040204020203" pitchFamily="34" charset="0"/>
                      </a:endParaRPr>
                    </a:p>
                    <a:p>
                      <a:pPr algn="l" fontAlgn="b">
                        <a:buNone/>
                      </a:pP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 panose="020B0502040204020203" pitchFamily="34" charset="0"/>
                        </a:rPr>
                        <a:t>12:20 PM - 12:45 PM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Gateway </a:t>
                      </a:r>
                      <a:r>
                        <a:rPr lang="nn-NO" sz="15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Pavilion</a:t>
                      </a: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, Level 2, Theater C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0001857"/>
                  </a:ext>
                </a:extLst>
              </a:tr>
              <a:tr h="15046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 panose="020B0502040204020203" pitchFamily="34" charset="0"/>
                        </a:rPr>
                        <a:t>LAB521-R1</a:t>
                      </a:r>
                    </a:p>
                    <a:p>
                      <a:pPr marL="0" marR="0" lvl="0" indent="0" algn="l" defTabSz="932742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 panose="020B0502040204020203" pitchFamily="34" charset="0"/>
                        </a:rPr>
                        <a:t>LAB521-R2</a:t>
                      </a:r>
                    </a:p>
                    <a:p>
                      <a:pPr marL="0" marR="0" lvl="0" indent="0" algn="l" defTabSz="932742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 panose="020B0502040204020203" pitchFamily="34" charset="0"/>
                        </a:rPr>
                        <a:t>LAB521-R3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sng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 panose="020B0502040204020203" pitchFamily="34" charset="0"/>
                        </a:rPr>
                        <a:t>Improving agent behavior using reinforcement learning from traces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5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Wed</a:t>
                      </a:r>
                      <a:r>
                        <a:rPr lang="fr-FR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, Jun 3</a:t>
                      </a:r>
                    </a:p>
                    <a:p>
                      <a:pPr algn="l" fontAlgn="b">
                        <a:buNone/>
                      </a:pPr>
                      <a:endParaRPr lang="fr-FR" sz="15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Segoe UI" panose="020B0502040204020203" pitchFamily="34" charset="0"/>
                      </a:endParaRPr>
                    </a:p>
                    <a:p>
                      <a:pPr algn="l" fontAlgn="b">
                        <a:buNone/>
                      </a:pPr>
                      <a:r>
                        <a:rPr lang="fr-FR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 panose="020B0502040204020203" pitchFamily="34" charset="0"/>
                        </a:rPr>
                        <a:t>9:00 AM - 10:15 AM</a:t>
                      </a:r>
                    </a:p>
                    <a:p>
                      <a:pPr algn="l" fontAlgn="b">
                        <a:buNone/>
                      </a:pPr>
                      <a:r>
                        <a:rPr lang="fr-FR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 panose="020B0502040204020203" pitchFamily="34" charset="0"/>
                        </a:rPr>
                        <a:t>1:15 PM - 2:30 PM</a:t>
                      </a:r>
                    </a:p>
                    <a:p>
                      <a:pPr algn="l" fontAlgn="b">
                        <a:buNone/>
                      </a:pPr>
                      <a:r>
                        <a:rPr lang="fr-FR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 panose="020B0502040204020203" pitchFamily="34" charset="0"/>
                        </a:rPr>
                        <a:t>4:45 PM - 6:00 PM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Gateway </a:t>
                      </a:r>
                      <a:r>
                        <a:rPr lang="nn-NO" sz="15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Pavilion</a:t>
                      </a:r>
                      <a:r>
                        <a:rPr lang="nn-NO" sz="1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, Level 1, Lab 1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325576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29CA17D-996B-A834-7AAA-B79B127A1DF5}"/>
              </a:ext>
            </a:extLst>
          </p:cNvPr>
          <p:cNvSpPr txBox="1"/>
          <p:nvPr/>
        </p:nvSpPr>
        <p:spPr>
          <a:xfrm>
            <a:off x="9496802" y="939065"/>
            <a:ext cx="1159777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699354" fontAlgn="base">
              <a:spcBef>
                <a:spcPct val="0"/>
              </a:spcBef>
              <a:spcAft>
                <a:spcPct val="0"/>
              </a:spcAft>
            </a:pPr>
            <a:r>
              <a:rPr lang="en-US" sz="750" dirty="0">
                <a:solidFill>
                  <a:schemeClr val="bg1"/>
                </a:solidFill>
              </a:rPr>
              <a:t>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07387654"/>
      </p:ext>
    </p:extLst>
  </p:cSld>
  <p:clrMapOvr>
    <a:masterClrMapping/>
  </p:clrMapOvr>
  <p:transition advClick="0" advTm="8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53464-C346-6360-1314-50ED339B8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6E4AE4E-40DA-86CF-273B-4D83FCEBF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Highlights</a:t>
            </a:r>
          </a:p>
        </p:txBody>
      </p:sp>
    </p:spTree>
    <p:extLst>
      <p:ext uri="{BB962C8B-B14F-4D97-AF65-F5344CB8AC3E}">
        <p14:creationId xmlns:p14="http://schemas.microsoft.com/office/powerpoint/2010/main" val="4144639188"/>
      </p:ext>
    </p:extLst>
  </p:cSld>
  <p:clrMapOvr>
    <a:masterClrMapping/>
  </p:clrMapOvr>
  <p:transition advClick="0" advTm="80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5E0B-1550-8869-624F-63361E2CA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E4F1D2E-2BA2-048A-45D3-E0A76D7C3267}"/>
              </a:ext>
            </a:extLst>
          </p:cNvPr>
          <p:cNvSpPr/>
          <p:nvPr/>
        </p:nvSpPr>
        <p:spPr bwMode="auto">
          <a:xfrm>
            <a:off x="219921" y="0"/>
            <a:ext cx="9792182" cy="6858000"/>
          </a:xfrm>
          <a:prstGeom prst="rect">
            <a:avLst/>
          </a:prstGeom>
          <a:solidFill>
            <a:srgbClr val="0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chemeClr val="bg1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B0BFB7-FC6B-5670-7822-138CB4BF9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469" y="426412"/>
            <a:ext cx="7980050" cy="1249573"/>
          </a:xfrm>
        </p:spPr>
        <p:txBody>
          <a:bodyPr/>
          <a:lstStyle/>
          <a:p>
            <a:pPr fontAlgn="t">
              <a:lnSpc>
                <a:spcPct val="140000"/>
              </a:lnSpc>
            </a:pPr>
            <a:r>
              <a:rPr lang="en-US" dirty="0"/>
              <a:t>Turn usage into learned behavior</a:t>
            </a:r>
            <a:br>
              <a:rPr lang="en-US" dirty="0"/>
            </a:br>
            <a:r>
              <a:rPr lang="en-US" sz="1800" dirty="0"/>
              <a:t>Models learn your business logic, not just prompts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D7CD0C-2F4E-CA17-54B4-9FC2E9D91C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9469" y="2102397"/>
            <a:ext cx="6400800" cy="2718693"/>
          </a:xfrm>
        </p:spPr>
        <p:txBody>
          <a:bodyPr/>
          <a:lstStyle/>
          <a:p>
            <a:pPr fontAlgn="t">
              <a:lnSpc>
                <a:spcPts val="2460"/>
              </a:lnSpc>
              <a:spcBef>
                <a:spcPts val="600"/>
              </a:spcBef>
            </a:pPr>
            <a:r>
              <a:rPr lang="en-US" b="1" dirty="0"/>
              <a:t>Observe how your agents behave in production</a:t>
            </a:r>
            <a:br>
              <a:rPr lang="en-US" dirty="0"/>
            </a:br>
            <a:r>
              <a:rPr lang="en-US" i="1" dirty="0"/>
              <a:t>Trace real interactions from deployed agents</a:t>
            </a:r>
            <a:endParaRPr lang="en-US" dirty="0"/>
          </a:p>
          <a:p>
            <a:pPr fontAlgn="t">
              <a:lnSpc>
                <a:spcPts val="2460"/>
              </a:lnSpc>
              <a:spcBef>
                <a:spcPts val="1200"/>
              </a:spcBef>
            </a:pPr>
            <a:r>
              <a:rPr lang="en-US" b="1" dirty="0"/>
              <a:t>Learn from those signals using reinforcement learning</a:t>
            </a:r>
            <a:br>
              <a:rPr lang="en-US" dirty="0"/>
            </a:br>
            <a:r>
              <a:rPr lang="en-US" i="1" dirty="0"/>
              <a:t>Apply RL directly in Foundry</a:t>
            </a:r>
            <a:endParaRPr lang="en-US" dirty="0"/>
          </a:p>
          <a:p>
            <a:pPr fontAlgn="t">
              <a:lnSpc>
                <a:spcPts val="2460"/>
              </a:lnSpc>
              <a:spcBef>
                <a:spcPts val="1200"/>
              </a:spcBef>
            </a:pPr>
            <a:r>
              <a:rPr lang="en-US" b="1" dirty="0"/>
              <a:t>Continuously improve decisions over time</a:t>
            </a:r>
            <a:br>
              <a:rPr lang="en-US" dirty="0"/>
            </a:br>
            <a:r>
              <a:rPr lang="en-US" i="1" dirty="0"/>
              <a:t>Train the model to make better real‑world choices</a:t>
            </a:r>
            <a:endParaRPr lang="en-US" dirty="0"/>
          </a:p>
          <a:p>
            <a:pPr fontAlgn="t">
              <a:lnSpc>
                <a:spcPts val="3200"/>
              </a:lnSpc>
              <a:spcBef>
                <a:spcPts val="600"/>
              </a:spcBef>
            </a:pPr>
            <a:endParaRPr lang="en-US" sz="25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771A375-540D-54BC-BA4E-E647957B9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9885008"/>
              </p:ext>
            </p:extLst>
          </p:nvPr>
        </p:nvGraphicFramePr>
        <p:xfrm>
          <a:off x="469469" y="5169701"/>
          <a:ext cx="8952322" cy="151838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1069">
                  <a:extLst>
                    <a:ext uri="{9D8B030D-6E8A-4147-A177-3AD203B41FA5}">
                      <a16:colId xmlns:a16="http://schemas.microsoft.com/office/drawing/2014/main" val="737952839"/>
                    </a:ext>
                  </a:extLst>
                </a:gridCol>
                <a:gridCol w="4844434">
                  <a:extLst>
                    <a:ext uri="{9D8B030D-6E8A-4147-A177-3AD203B41FA5}">
                      <a16:colId xmlns:a16="http://schemas.microsoft.com/office/drawing/2014/main" val="626662839"/>
                    </a:ext>
                  </a:extLst>
                </a:gridCol>
                <a:gridCol w="1423686">
                  <a:extLst>
                    <a:ext uri="{9D8B030D-6E8A-4147-A177-3AD203B41FA5}">
                      <a16:colId xmlns:a16="http://schemas.microsoft.com/office/drawing/2014/main" val="4101391338"/>
                    </a:ext>
                  </a:extLst>
                </a:gridCol>
                <a:gridCol w="1493133">
                  <a:extLst>
                    <a:ext uri="{9D8B030D-6E8A-4147-A177-3AD203B41FA5}">
                      <a16:colId xmlns:a16="http://schemas.microsoft.com/office/drawing/2014/main" val="2756487976"/>
                    </a:ext>
                  </a:extLst>
                </a:gridCol>
              </a:tblGrid>
              <a:tr h="75230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BRK231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sng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Deploy. Observe. Learn. Reinforcement learning for production agents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Tue, Jun 2</a:t>
                      </a:r>
                    </a:p>
                    <a:p>
                      <a:pPr algn="l" fontAlgn="b">
                        <a:buNone/>
                      </a:pPr>
                      <a:r>
                        <a:rPr lang="fr-F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3:45 PM - 4:30 PM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Festival </a:t>
                      </a:r>
                      <a:r>
                        <a:rPr lang="fr-FR" sz="1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Pavilion</a:t>
                      </a:r>
                      <a:r>
                        <a:rPr lang="fr-F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, </a:t>
                      </a:r>
                      <a:r>
                        <a:rPr lang="fr-FR" sz="1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Breakout</a:t>
                      </a:r>
                      <a:r>
                        <a:rPr lang="fr-F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2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5007969"/>
                  </a:ext>
                </a:extLst>
              </a:tr>
              <a:tr h="75230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LAB521-R1</a:t>
                      </a:r>
                    </a:p>
                    <a:p>
                      <a:pPr marL="0" marR="0" lvl="0" indent="0" algn="l" defTabSz="932742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LAB521-R2</a:t>
                      </a:r>
                    </a:p>
                    <a:p>
                      <a:pPr marL="0" marR="0" lvl="0" indent="0" algn="l" defTabSz="932742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LAB521-R3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sng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Improving agent behavior using reinforcement learning from traces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Wed</a:t>
                      </a:r>
                      <a:r>
                        <a:rPr lang="fr-F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, Jun 3</a:t>
                      </a:r>
                    </a:p>
                    <a:p>
                      <a:pPr algn="l" fontAlgn="b">
                        <a:buNone/>
                      </a:pPr>
                      <a:endParaRPr lang="fr-FR" sz="10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pPr algn="l" fontAlgn="b">
                        <a:buNone/>
                      </a:pPr>
                      <a:r>
                        <a:rPr lang="fr-F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9:00 AM - 10:15 AM</a:t>
                      </a:r>
                    </a:p>
                    <a:p>
                      <a:pPr algn="l" fontAlgn="b">
                        <a:buNone/>
                      </a:pPr>
                      <a:r>
                        <a:rPr lang="fr-F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1:15 PM - 2:30 PM</a:t>
                      </a:r>
                    </a:p>
                    <a:p>
                      <a:pPr algn="l" fontAlgn="b">
                        <a:buNone/>
                      </a:pPr>
                      <a:r>
                        <a:rPr lang="fr-F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4:45 PM - 6:00 PM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Gateway </a:t>
                      </a:r>
                      <a:r>
                        <a:rPr lang="nn-NO" sz="1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Pavilion</a:t>
                      </a:r>
                      <a:r>
                        <a:rPr lang="nn-NO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, Level 1, Lab 1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343442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2978117"/>
      </p:ext>
    </p:extLst>
  </p:cSld>
  <p:clrMapOvr>
    <a:masterClrMapping/>
  </p:clrMapOvr>
  <p:transition advClick="0" advTm="80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04AC7-868B-A285-9A55-07691ECA5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5C8CAC6-9574-5433-1C7F-3B006764F2FB}"/>
              </a:ext>
            </a:extLst>
          </p:cNvPr>
          <p:cNvSpPr/>
          <p:nvPr/>
        </p:nvSpPr>
        <p:spPr bwMode="auto">
          <a:xfrm>
            <a:off x="92599" y="0"/>
            <a:ext cx="9792182" cy="6858000"/>
          </a:xfrm>
          <a:prstGeom prst="rect">
            <a:avLst/>
          </a:prstGeom>
          <a:solidFill>
            <a:srgbClr val="0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chemeClr val="bg1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C866D4-1FEB-B5D1-A85C-4848F9400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469" y="443471"/>
            <a:ext cx="10318137" cy="1249573"/>
          </a:xfrm>
        </p:spPr>
        <p:txBody>
          <a:bodyPr/>
          <a:lstStyle/>
          <a:p>
            <a:pPr fontAlgn="t">
              <a:lnSpc>
                <a:spcPct val="140000"/>
              </a:lnSpc>
              <a:spcBef>
                <a:spcPts val="1800"/>
              </a:spcBef>
            </a:pPr>
            <a:r>
              <a:rPr lang="en-US" dirty="0"/>
              <a:t>Train on what actually happens in production</a:t>
            </a:r>
            <a:br>
              <a:rPr lang="en-US" dirty="0"/>
            </a:br>
            <a:r>
              <a:rPr lang="en-US" sz="1800" dirty="0"/>
              <a:t>Don’t pay frontier‑model prices for narrow tasks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D41B56-FCFD-ED02-E3D9-B7F1DF7FDB4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9469" y="2654491"/>
            <a:ext cx="6400800" cy="2231380"/>
          </a:xfrm>
        </p:spPr>
        <p:txBody>
          <a:bodyPr/>
          <a:lstStyle/>
          <a:p>
            <a:pPr fontAlgn="t">
              <a:lnSpc>
                <a:spcPts val="2460"/>
              </a:lnSpc>
            </a:pPr>
            <a:r>
              <a:rPr lang="en-US" b="1" dirty="0"/>
              <a:t>Capture real usage from your agents</a:t>
            </a:r>
            <a:br>
              <a:rPr lang="en-US" dirty="0"/>
            </a:br>
            <a:r>
              <a:rPr lang="en-US" i="1" dirty="0"/>
              <a:t>Use production traces as training data</a:t>
            </a:r>
            <a:endParaRPr lang="en-US" dirty="0"/>
          </a:p>
          <a:p>
            <a:pPr fontAlgn="t">
              <a:lnSpc>
                <a:spcPts val="2460"/>
              </a:lnSpc>
              <a:spcBef>
                <a:spcPts val="1200"/>
              </a:spcBef>
            </a:pPr>
            <a:r>
              <a:rPr lang="en-US" b="1" dirty="0"/>
              <a:t>Distill into smaller, task‑specific models</a:t>
            </a:r>
            <a:br>
              <a:rPr lang="en-US" dirty="0"/>
            </a:br>
            <a:r>
              <a:rPr lang="en-US" i="1" dirty="0"/>
              <a:t>Fine‑tune efficient models from real scenarios</a:t>
            </a:r>
            <a:endParaRPr lang="en-US" dirty="0"/>
          </a:p>
          <a:p>
            <a:pPr fontAlgn="t">
              <a:lnSpc>
                <a:spcPts val="2460"/>
              </a:lnSpc>
              <a:spcBef>
                <a:spcPts val="1200"/>
              </a:spcBef>
            </a:pPr>
            <a:r>
              <a:rPr lang="en-US" b="1" dirty="0"/>
              <a:t>Reduce cost and latency at scale</a:t>
            </a:r>
            <a:br>
              <a:rPr lang="en-US" dirty="0"/>
            </a:br>
            <a:r>
              <a:rPr lang="en-US" i="1" dirty="0"/>
              <a:t>Deploy faster, cheaper models for targeted tasks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EDDAE2F-00CF-4BDA-1CA9-E0A546BD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567650"/>
              </p:ext>
            </p:extLst>
          </p:nvPr>
        </p:nvGraphicFramePr>
        <p:xfrm>
          <a:off x="469469" y="5847318"/>
          <a:ext cx="8952322" cy="75230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1069">
                  <a:extLst>
                    <a:ext uri="{9D8B030D-6E8A-4147-A177-3AD203B41FA5}">
                      <a16:colId xmlns:a16="http://schemas.microsoft.com/office/drawing/2014/main" val="737952839"/>
                    </a:ext>
                  </a:extLst>
                </a:gridCol>
                <a:gridCol w="4844434">
                  <a:extLst>
                    <a:ext uri="{9D8B030D-6E8A-4147-A177-3AD203B41FA5}">
                      <a16:colId xmlns:a16="http://schemas.microsoft.com/office/drawing/2014/main" val="626662839"/>
                    </a:ext>
                  </a:extLst>
                </a:gridCol>
                <a:gridCol w="1423686">
                  <a:extLst>
                    <a:ext uri="{9D8B030D-6E8A-4147-A177-3AD203B41FA5}">
                      <a16:colId xmlns:a16="http://schemas.microsoft.com/office/drawing/2014/main" val="4101391338"/>
                    </a:ext>
                  </a:extLst>
                </a:gridCol>
                <a:gridCol w="1493133">
                  <a:extLst>
                    <a:ext uri="{9D8B030D-6E8A-4147-A177-3AD203B41FA5}">
                      <a16:colId xmlns:a16="http://schemas.microsoft.com/office/drawing/2014/main" val="2756487976"/>
                    </a:ext>
                  </a:extLst>
                </a:gridCol>
              </a:tblGrid>
              <a:tr h="75230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 panose="020B0502040204020203" pitchFamily="34" charset="0"/>
                        </a:rPr>
                        <a:t>DEM322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sng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 panose="020B0502040204020203" pitchFamily="34" charset="0"/>
                        </a:rPr>
                        <a:t>Smaller, faster, smarter: Distilling models with fine‑tuning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n-NO" sz="1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Wed</a:t>
                      </a:r>
                      <a:r>
                        <a:rPr lang="nn-NO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, </a:t>
                      </a:r>
                      <a:r>
                        <a:rPr lang="nn-NO" sz="1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Jun</a:t>
                      </a:r>
                      <a:r>
                        <a:rPr lang="nn-NO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 3</a:t>
                      </a:r>
                    </a:p>
                    <a:p>
                      <a:pPr algn="l" fontAlgn="b">
                        <a:buNone/>
                      </a:pPr>
                      <a:endParaRPr lang="nn-NO" sz="10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Segoe UI" panose="020B0502040204020203" pitchFamily="34" charset="0"/>
                      </a:endParaRPr>
                    </a:p>
                    <a:p>
                      <a:pPr algn="l" fontAlgn="b">
                        <a:buNone/>
                      </a:pPr>
                      <a:r>
                        <a:rPr lang="nn-NO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 panose="020B0502040204020203" pitchFamily="34" charset="0"/>
                        </a:rPr>
                        <a:t>12:20 PM - 12:45 PM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Gateway </a:t>
                      </a:r>
                      <a:r>
                        <a:rPr lang="nn-NO" sz="1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Pavilion</a:t>
                      </a:r>
                      <a:r>
                        <a:rPr lang="nn-NO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Segoe UI"/>
                        </a:rPr>
                        <a:t>, Level 2, Theater C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5007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5016254"/>
      </p:ext>
    </p:extLst>
  </p:cSld>
  <p:clrMapOvr>
    <a:masterClrMapping/>
  </p:clrMapOvr>
  <p:transition advClick="0" advTm="80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C455D-86F2-FB46-F66E-16EBD869D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EAA95E0-D352-72C9-D319-070EAD70D9AB}"/>
              </a:ext>
            </a:extLst>
          </p:cNvPr>
          <p:cNvSpPr/>
          <p:nvPr/>
        </p:nvSpPr>
        <p:spPr bwMode="auto">
          <a:xfrm>
            <a:off x="92599" y="0"/>
            <a:ext cx="9792182" cy="6858000"/>
          </a:xfrm>
          <a:prstGeom prst="rect">
            <a:avLst/>
          </a:prstGeom>
          <a:solidFill>
            <a:srgbClr val="0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chemeClr val="bg1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C4CF4F-93AB-9E3C-2BF7-67120461B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469" y="443471"/>
            <a:ext cx="10318137" cy="1249573"/>
          </a:xfrm>
        </p:spPr>
        <p:txBody>
          <a:bodyPr/>
          <a:lstStyle/>
          <a:p>
            <a:pPr fontAlgn="t">
              <a:lnSpc>
                <a:spcPct val="140000"/>
              </a:lnSpc>
              <a:spcBef>
                <a:spcPts val="1800"/>
              </a:spcBef>
            </a:pPr>
            <a:r>
              <a:rPr lang="en-US" dirty="0"/>
              <a:t>Go beyond one‑click optimization</a:t>
            </a:r>
            <a:br>
              <a:rPr lang="en-US" dirty="0"/>
            </a:br>
            <a:r>
              <a:rPr lang="en-US" sz="1800" dirty="0"/>
              <a:t>Full control with training API when standard approaches aren’t enough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9B4CE8-251A-CB9A-B647-0E82D25113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9469" y="2654491"/>
            <a:ext cx="6400800" cy="2231380"/>
          </a:xfrm>
        </p:spPr>
        <p:txBody>
          <a:bodyPr/>
          <a:lstStyle/>
          <a:p>
            <a:pPr fontAlgn="t">
              <a:lnSpc>
                <a:spcPts val="2460"/>
              </a:lnSpc>
            </a:pPr>
            <a:r>
              <a:rPr lang="en-US" b="1" dirty="0"/>
              <a:t>Start with your own training approach</a:t>
            </a:r>
            <a:br>
              <a:rPr lang="en-US" dirty="0"/>
            </a:br>
            <a:r>
              <a:rPr lang="en-US" i="1" dirty="0"/>
              <a:t>Define custom RL recipes</a:t>
            </a:r>
            <a:endParaRPr lang="en-US" dirty="0"/>
          </a:p>
          <a:p>
            <a:pPr fontAlgn="t">
              <a:lnSpc>
                <a:spcPts val="2460"/>
              </a:lnSpc>
              <a:spcBef>
                <a:spcPts val="1200"/>
              </a:spcBef>
            </a:pPr>
            <a:r>
              <a:rPr lang="en-US" b="1" dirty="0"/>
              <a:t>Control how your model learns</a:t>
            </a:r>
            <a:br>
              <a:rPr lang="en-US" dirty="0"/>
            </a:br>
            <a:r>
              <a:rPr lang="en-US" i="1" dirty="0"/>
              <a:t>Customize reward functions and training logic</a:t>
            </a:r>
            <a:endParaRPr lang="en-US" dirty="0"/>
          </a:p>
          <a:p>
            <a:pPr fontAlgn="t">
              <a:lnSpc>
                <a:spcPts val="2460"/>
              </a:lnSpc>
              <a:spcBef>
                <a:spcPts val="1200"/>
              </a:spcBef>
            </a:pPr>
            <a:r>
              <a:rPr lang="en-US" b="1" dirty="0"/>
              <a:t>Scale training to your needs</a:t>
            </a:r>
            <a:br>
              <a:rPr lang="en-US" dirty="0"/>
            </a:br>
            <a:r>
              <a:rPr lang="en-US" i="1" dirty="0"/>
              <a:t>Run optimized jobs on your infrastructure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3CDE8D-0ACB-FAAC-B56E-05109ACC99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685557"/>
              </p:ext>
            </p:extLst>
          </p:nvPr>
        </p:nvGraphicFramePr>
        <p:xfrm>
          <a:off x="469469" y="5847318"/>
          <a:ext cx="8952322" cy="75230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1069">
                  <a:extLst>
                    <a:ext uri="{9D8B030D-6E8A-4147-A177-3AD203B41FA5}">
                      <a16:colId xmlns:a16="http://schemas.microsoft.com/office/drawing/2014/main" val="737952839"/>
                    </a:ext>
                  </a:extLst>
                </a:gridCol>
                <a:gridCol w="4844434">
                  <a:extLst>
                    <a:ext uri="{9D8B030D-6E8A-4147-A177-3AD203B41FA5}">
                      <a16:colId xmlns:a16="http://schemas.microsoft.com/office/drawing/2014/main" val="626662839"/>
                    </a:ext>
                  </a:extLst>
                </a:gridCol>
                <a:gridCol w="1423686">
                  <a:extLst>
                    <a:ext uri="{9D8B030D-6E8A-4147-A177-3AD203B41FA5}">
                      <a16:colId xmlns:a16="http://schemas.microsoft.com/office/drawing/2014/main" val="4101391338"/>
                    </a:ext>
                  </a:extLst>
                </a:gridCol>
                <a:gridCol w="1493133">
                  <a:extLst>
                    <a:ext uri="{9D8B030D-6E8A-4147-A177-3AD203B41FA5}">
                      <a16:colId xmlns:a16="http://schemas.microsoft.com/office/drawing/2014/main" val="2756487976"/>
                    </a:ext>
                  </a:extLst>
                </a:gridCol>
              </a:tblGrid>
              <a:tr h="75230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cs typeface="Segoe UI" panose="020B0502040204020203" pitchFamily="34" charset="0"/>
                        </a:rPr>
                        <a:t>DEM322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sng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cs typeface="Segoe UI" panose="020B0502040204020203" pitchFamily="34" charset="0"/>
                        </a:rPr>
                        <a:t>Smaller, faster, smarter: Distilling models with fine‑tuning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n-NO" sz="1000" b="0" i="0" u="none" strike="noStrike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cs typeface="Segoe UI"/>
                        </a:rPr>
                        <a:t>Wed</a:t>
                      </a:r>
                      <a:r>
                        <a:rPr lang="nn-NO" sz="1000" b="0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cs typeface="Segoe UI"/>
                        </a:rPr>
                        <a:t>, </a:t>
                      </a:r>
                      <a:r>
                        <a:rPr lang="nn-NO" sz="1000" b="0" i="0" u="none" strike="noStrike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cs typeface="Segoe UI"/>
                        </a:rPr>
                        <a:t>Jun</a:t>
                      </a:r>
                      <a:r>
                        <a:rPr lang="nn-NO" sz="1000" b="0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cs typeface="Segoe UI"/>
                        </a:rPr>
                        <a:t> 3</a:t>
                      </a:r>
                    </a:p>
                    <a:p>
                      <a:pPr algn="l" fontAlgn="b">
                        <a:buNone/>
                      </a:pPr>
                      <a:endParaRPr lang="nn-NO" sz="1000" b="0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cs typeface="Segoe UI" panose="020B0502040204020203" pitchFamily="34" charset="0"/>
                      </a:endParaRPr>
                    </a:p>
                    <a:p>
                      <a:pPr algn="l" fontAlgn="b">
                        <a:buNone/>
                      </a:pPr>
                      <a:r>
                        <a:rPr lang="nn-NO" sz="1000" b="0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cs typeface="Segoe UI" panose="020B0502040204020203" pitchFamily="34" charset="0"/>
                        </a:rPr>
                        <a:t>12:20 PM - 12:45 PM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000" b="0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cs typeface="Segoe UI"/>
                        </a:rPr>
                        <a:t>Gateway </a:t>
                      </a:r>
                      <a:r>
                        <a:rPr lang="nn-NO" sz="1000" b="0" i="0" u="none" strike="noStrike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cs typeface="Segoe UI"/>
                        </a:rPr>
                        <a:t>Pavilion</a:t>
                      </a:r>
                      <a:r>
                        <a:rPr lang="nn-NO" sz="1000" b="0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cs typeface="Segoe UI"/>
                        </a:rPr>
                        <a:t>, Level 2, Theater C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5007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9006363"/>
      </p:ext>
    </p:extLst>
  </p:cSld>
  <p:clrMapOvr>
    <a:masterClrMapping/>
  </p:clrMapOvr>
  <p:transition advClick="0" advTm="80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F37D0-1F0E-CE5C-BBBF-92CAFC10E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1A10170-D2C5-D1D3-12DA-AA2EC1E941C3}"/>
              </a:ext>
            </a:extLst>
          </p:cNvPr>
          <p:cNvSpPr/>
          <p:nvPr/>
        </p:nvSpPr>
        <p:spPr bwMode="auto">
          <a:xfrm>
            <a:off x="92599" y="0"/>
            <a:ext cx="9792182" cy="6858000"/>
          </a:xfrm>
          <a:prstGeom prst="rect">
            <a:avLst/>
          </a:prstGeom>
          <a:solidFill>
            <a:srgbClr val="0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chemeClr val="bg1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D19AAC-468C-5266-6811-F9477988F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469" y="443471"/>
            <a:ext cx="10318137" cy="1249573"/>
          </a:xfrm>
        </p:spPr>
        <p:txBody>
          <a:bodyPr/>
          <a:lstStyle/>
          <a:p>
            <a:pPr fontAlgn="t">
              <a:lnSpc>
                <a:spcPct val="140000"/>
              </a:lnSpc>
              <a:spcBef>
                <a:spcPts val="1800"/>
              </a:spcBef>
            </a:pPr>
            <a:r>
              <a:rPr lang="en-US" dirty="0"/>
              <a:t>Make fine‑tuning part of your workflow</a:t>
            </a:r>
            <a:br>
              <a:rPr lang="en-US" dirty="0"/>
            </a:br>
            <a:r>
              <a:rPr lang="en-US" sz="1800" dirty="0"/>
              <a:t>Fine‑tuning meets developer productivity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6C7F8E-B2E8-F020-8B9D-10BCA26FD7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9469" y="2654491"/>
            <a:ext cx="6400800" cy="2231380"/>
          </a:xfrm>
        </p:spPr>
        <p:txBody>
          <a:bodyPr/>
          <a:lstStyle/>
          <a:p>
            <a:pPr fontAlgn="t">
              <a:lnSpc>
                <a:spcPts val="2460"/>
              </a:lnSpc>
            </a:pPr>
            <a:r>
              <a:rPr lang="en-US" b="1" dirty="0"/>
              <a:t>Start fine‑tuning jobs in plain language</a:t>
            </a:r>
          </a:p>
          <a:p>
            <a:pPr fontAlgn="t">
              <a:lnSpc>
                <a:spcPts val="2460"/>
              </a:lnSpc>
            </a:pPr>
            <a:r>
              <a:rPr lang="en-US" i="1" dirty="0"/>
              <a:t>Use Copilot in CLI or VS Code</a:t>
            </a:r>
          </a:p>
          <a:p>
            <a:pPr fontAlgn="t">
              <a:lnSpc>
                <a:spcPts val="2460"/>
              </a:lnSpc>
              <a:spcBef>
                <a:spcPts val="1200"/>
              </a:spcBef>
            </a:pPr>
            <a:r>
              <a:rPr lang="en-US" b="1" dirty="0"/>
              <a:t>Manage and monitor runs easily</a:t>
            </a:r>
          </a:p>
          <a:p>
            <a:pPr fontAlgn="t">
              <a:lnSpc>
                <a:spcPts val="2460"/>
              </a:lnSpc>
            </a:pPr>
            <a:r>
              <a:rPr lang="en-US" i="1" dirty="0"/>
              <a:t>Track, update, or cancel jobs conversationally</a:t>
            </a:r>
          </a:p>
          <a:p>
            <a:pPr fontAlgn="t">
              <a:lnSpc>
                <a:spcPts val="2460"/>
              </a:lnSpc>
              <a:spcBef>
                <a:spcPts val="1200"/>
              </a:spcBef>
            </a:pPr>
            <a:r>
              <a:rPr lang="en-US" b="1" dirty="0"/>
              <a:t>Iterate quickly as models improve</a:t>
            </a:r>
          </a:p>
          <a:p>
            <a:pPr fontAlgn="t">
              <a:lnSpc>
                <a:spcPts val="2460"/>
              </a:lnSpc>
            </a:pPr>
            <a:r>
              <a:rPr lang="en-US" i="1" dirty="0"/>
              <a:t>Integrate tuning into everyday dev workflows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F5920B5-E54E-0B5D-7BA1-CE992CB65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6557968"/>
              </p:ext>
            </p:extLst>
          </p:nvPr>
        </p:nvGraphicFramePr>
        <p:xfrm>
          <a:off x="469469" y="5847318"/>
          <a:ext cx="8952322" cy="75230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1069">
                  <a:extLst>
                    <a:ext uri="{9D8B030D-6E8A-4147-A177-3AD203B41FA5}">
                      <a16:colId xmlns:a16="http://schemas.microsoft.com/office/drawing/2014/main" val="737952839"/>
                    </a:ext>
                  </a:extLst>
                </a:gridCol>
                <a:gridCol w="4844434">
                  <a:extLst>
                    <a:ext uri="{9D8B030D-6E8A-4147-A177-3AD203B41FA5}">
                      <a16:colId xmlns:a16="http://schemas.microsoft.com/office/drawing/2014/main" val="626662839"/>
                    </a:ext>
                  </a:extLst>
                </a:gridCol>
                <a:gridCol w="1423686">
                  <a:extLst>
                    <a:ext uri="{9D8B030D-6E8A-4147-A177-3AD203B41FA5}">
                      <a16:colId xmlns:a16="http://schemas.microsoft.com/office/drawing/2014/main" val="4101391338"/>
                    </a:ext>
                  </a:extLst>
                </a:gridCol>
                <a:gridCol w="1493133">
                  <a:extLst>
                    <a:ext uri="{9D8B030D-6E8A-4147-A177-3AD203B41FA5}">
                      <a16:colId xmlns:a16="http://schemas.microsoft.com/office/drawing/2014/main" val="2756487976"/>
                    </a:ext>
                  </a:extLst>
                </a:gridCol>
              </a:tblGrid>
              <a:tr h="75230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LTG418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sng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Smarter training patterns for better AI models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Tue, Jun 2</a:t>
                      </a:r>
                    </a:p>
                    <a:p>
                      <a:pPr algn="l" fontAlgn="b">
                        <a:buNone/>
                      </a:pPr>
                      <a:r>
                        <a:rPr lang="fr-F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4:30 PM - 4:45 PM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Gateway </a:t>
                      </a:r>
                      <a:r>
                        <a:rPr lang="nn-NO" sz="1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Pavilion</a:t>
                      </a:r>
                      <a:r>
                        <a:rPr lang="nn-NO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, Level 2, Theater 3</a:t>
                      </a:r>
                    </a:p>
                  </a:txBody>
                  <a:tcPr marL="4082" marR="4082" marT="4082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5007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842251"/>
      </p:ext>
    </p:extLst>
  </p:cSld>
  <p:clrMapOvr>
    <a:masterClrMapping/>
  </p:clrMapOvr>
  <p:transition advClick="0" advTm="80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AC259-272E-59F5-5560-8D4F7D36D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CF57FDA-22E9-BA7A-4B11-E1B880631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1578657356"/>
      </p:ext>
    </p:extLst>
  </p:cSld>
  <p:clrMapOvr>
    <a:masterClrMapping/>
  </p:clrMapOvr>
  <p:transition advClick="0" advTm="80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7B786-1652-4739-FEDF-F51B78482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BFC9C57-FBA9-46AA-8096-A31A27B22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3504813"/>
            <a:ext cx="5577840" cy="1615827"/>
          </a:xfrm>
        </p:spPr>
        <p:txBody>
          <a:bodyPr/>
          <a:lstStyle/>
          <a:p>
            <a:r>
              <a:rPr lang="en-US" sz="3500" dirty="0"/>
              <a:t>Fill out the survey to provide direct feedback to the product team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73D7DF-AADF-B48C-AA98-A2894E776058}"/>
              </a:ext>
            </a:extLst>
          </p:cNvPr>
          <p:cNvSpPr/>
          <p:nvPr/>
        </p:nvSpPr>
        <p:spPr bwMode="auto">
          <a:xfrm>
            <a:off x="6227182" y="1674273"/>
            <a:ext cx="3657600" cy="36576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chemeClr val="bg1"/>
              </a:soli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2" name="Picture 1" descr="build-qrcode.png">
            <a:extLst>
              <a:ext uri="{FF2B5EF4-FFF2-40B4-BE49-F238E27FC236}">
                <a16:creationId xmlns:a16="http://schemas.microsoft.com/office/drawing/2014/main" id="{2A44B171-9514-1D90-3A5F-14E25013E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586" y="1813173"/>
            <a:ext cx="3383280" cy="33832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D0A16D-4B31-DA0B-3815-A314294053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20802" y="1494649"/>
            <a:ext cx="3576960" cy="20116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5B1945-1EC7-E12B-0686-5E5808E74AC6}"/>
              </a:ext>
            </a:extLst>
          </p:cNvPr>
          <p:cNvSpPr txBox="1"/>
          <p:nvPr/>
        </p:nvSpPr>
        <p:spPr>
          <a:xfrm>
            <a:off x="1633942" y="2223490"/>
            <a:ext cx="35769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i="0" dirty="0">
                <a:effectLst/>
                <a:latin typeface="Segoe UI" panose="020B0502040204020203" pitchFamily="34" charset="0"/>
              </a:rPr>
              <a:t>Microsoft Foundry</a:t>
            </a:r>
            <a:endParaRPr lang="en-US" sz="3000" b="1" dirty="0"/>
          </a:p>
        </p:txBody>
      </p:sp>
    </p:spTree>
    <p:extLst>
      <p:ext uri="{BB962C8B-B14F-4D97-AF65-F5344CB8AC3E}">
        <p14:creationId xmlns:p14="http://schemas.microsoft.com/office/powerpoint/2010/main" val="2268362843"/>
      </p:ext>
    </p:extLst>
  </p:cSld>
  <p:clrMapOvr>
    <a:masterClrMapping/>
  </p:clrMapOvr>
  <p:transition advClick="0" advTm="8000">
    <p:fade/>
  </p:transition>
</p:sld>
</file>

<file path=ppt/theme/theme1.xml><?xml version="1.0" encoding="utf-8"?>
<a:theme xmlns:a="http://schemas.openxmlformats.org/drawingml/2006/main" name="Microsoft Build 16:9 Template Light">
  <a:themeElements>
    <a:clrScheme name="Custom 80">
      <a:dk1>
        <a:srgbClr val="000000"/>
      </a:dk1>
      <a:lt1>
        <a:srgbClr val="FFFFFF"/>
      </a:lt1>
      <a:dk2>
        <a:srgbClr val="2A446F"/>
      </a:dk2>
      <a:lt2>
        <a:srgbClr val="D7D2CB"/>
      </a:lt2>
      <a:accent1>
        <a:srgbClr val="00A4EF"/>
      </a:accent1>
      <a:accent2>
        <a:srgbClr val="7FBA00"/>
      </a:accent2>
      <a:accent3>
        <a:srgbClr val="F25022"/>
      </a:accent3>
      <a:accent4>
        <a:srgbClr val="BF9474"/>
      </a:accent4>
      <a:accent5>
        <a:srgbClr val="FFB900"/>
      </a:accent5>
      <a:accent6>
        <a:srgbClr val="B1B3B3"/>
      </a:accent6>
      <a:hlink>
        <a:srgbClr val="0078D4"/>
      </a:hlink>
      <a:folHlink>
        <a:srgbClr val="8661C5"/>
      </a:folHlink>
    </a:clrScheme>
    <a:fontScheme name="Microsoft 2019 Brand Templates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 err="1" smtClean="0">
            <a:solidFill>
              <a:srgbClr val="FFFFFF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Build_2026_16-9 Event-template_v03.potx" id="{23295F41-47B4-4925-B9F3-5276FDC5A736}" vid="{5F1F9044-CA6A-440B-A728-2F8917897A95}"/>
    </a:ext>
  </a:extLst>
</a:theme>
</file>

<file path=ppt/theme/theme2.xml><?xml version="1.0" encoding="utf-8"?>
<a:theme xmlns:a="http://schemas.openxmlformats.org/drawingml/2006/main" name="Microsoft Build 16:9 Template Dark">
  <a:themeElements>
    <a:clrScheme name="Custom 79">
      <a:dk1>
        <a:srgbClr val="000000"/>
      </a:dk1>
      <a:lt1>
        <a:srgbClr val="FFFFFF"/>
      </a:lt1>
      <a:dk2>
        <a:srgbClr val="091F2C"/>
      </a:dk2>
      <a:lt2>
        <a:srgbClr val="E8E6DF"/>
      </a:lt2>
      <a:accent1>
        <a:srgbClr val="00A4EF"/>
      </a:accent1>
      <a:accent2>
        <a:srgbClr val="7FBA00"/>
      </a:accent2>
      <a:accent3>
        <a:srgbClr val="F25022"/>
      </a:accent3>
      <a:accent4>
        <a:srgbClr val="E1D3C7"/>
      </a:accent4>
      <a:accent5>
        <a:srgbClr val="FFB900"/>
      </a:accent5>
      <a:accent6>
        <a:srgbClr val="D9D9D6"/>
      </a:accent6>
      <a:hlink>
        <a:srgbClr val="8DC8E8"/>
      </a:hlink>
      <a:folHlink>
        <a:srgbClr val="C5B4E3"/>
      </a:folHlink>
    </a:clrScheme>
    <a:fontScheme name="Microsoft 2019 Brand Templates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 err="1" smtClean="0">
            <a:solidFill>
              <a:schemeClr val="bg1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Build_2026_16-9 Event-template_v03.potx" id="{23295F41-47B4-4925-B9F3-5276FDC5A736}" vid="{9568D0D4-72EB-4CE1-95C9-D12481B11A0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Light Orange">
      <a:srgbClr val="FF9349"/>
    </a:custClr>
    <a:custClr name="Light Yellow">
      <a:srgbClr val="FEF000"/>
    </a:custClr>
    <a:custClr name="Light Green">
      <a:srgbClr val="9BF00B"/>
    </a:custClr>
    <a:custClr name="Light Teal">
      <a:srgbClr val="30E5D0"/>
    </a:custClr>
    <a:custClr name="Light Blue">
      <a:srgbClr val="50E6FF"/>
    </a:custClr>
    <a:custClr name="Light Purple">
      <a:srgbClr val="D59DFF"/>
    </a:custClr>
    <a:custClr name="White">
      <a:srgbClr val="FFFFFF"/>
    </a:custClr>
    <a:custClr name="Extra Light Gray">
      <a:srgbClr val="F2F2F2"/>
    </a:custClr>
    <a:custClr name="Light Gray">
      <a:srgbClr val="E6E6E6"/>
    </a:custClr>
    <a:custClr name="Gray">
      <a:srgbClr val="D2D2D2"/>
    </a:custClr>
    <a:custClr name="Orange">
      <a:srgbClr val="D83B01"/>
    </a:custClr>
    <a:custClr name="Yellow">
      <a:srgbClr val="FFB900"/>
    </a:custClr>
    <a:custClr name="Green">
      <a:srgbClr val="107C10"/>
    </a:custClr>
    <a:custClr name="Teal">
      <a:srgbClr val="008575"/>
    </a:custClr>
    <a:custClr name="Blue">
      <a:srgbClr val="0078D4"/>
    </a:custClr>
    <a:custClr name="Purple">
      <a:srgbClr val="8661C5"/>
    </a:custClr>
    <a:custClr name="Mid Gray">
      <a:srgbClr val="737373"/>
    </a:custClr>
    <a:custClr name="Dark Gray">
      <a:srgbClr val="505050"/>
    </a:custClr>
    <a:custClr name="Extra Dark Gray">
      <a:srgbClr val="2F2F2F"/>
    </a:custClr>
    <a:custClr name="Rick Black">
      <a:srgbClr val="000000"/>
    </a:custClr>
    <a:custClr name="Dark Orange">
      <a:srgbClr val="6B2929"/>
    </a:custClr>
    <a:custClr name="Dark Yellow">
      <a:srgbClr val="6A4B16"/>
    </a:custClr>
    <a:custClr name="Dark Green">
      <a:srgbClr val="054B16"/>
    </a:custClr>
    <a:custClr name="Dark Teal">
      <a:srgbClr val="274B47"/>
    </a:custClr>
    <a:custClr name="Dark Blue">
      <a:srgbClr val="243A5E"/>
    </a:custClr>
    <a:custClr name="Dark Purple">
      <a:srgbClr val="3B2E58"/>
    </a:custClr>
  </a:custClr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Light Orange">
      <a:srgbClr val="FF9349"/>
    </a:custClr>
    <a:custClr name="Light Yellow">
      <a:srgbClr val="FEF000"/>
    </a:custClr>
    <a:custClr name="Light Green">
      <a:srgbClr val="9BF00B"/>
    </a:custClr>
    <a:custClr name="Light Teal">
      <a:srgbClr val="30E5D0"/>
    </a:custClr>
    <a:custClr name="Light Blue">
      <a:srgbClr val="50E6FF"/>
    </a:custClr>
    <a:custClr name="Light Purple">
      <a:srgbClr val="D59DFF"/>
    </a:custClr>
    <a:custClr name="White">
      <a:srgbClr val="FFFFFF"/>
    </a:custClr>
    <a:custClr name="Extra Light Gray">
      <a:srgbClr val="F2F2F2"/>
    </a:custClr>
    <a:custClr name="Light Gray">
      <a:srgbClr val="E6E6E6"/>
    </a:custClr>
    <a:custClr name="Gray">
      <a:srgbClr val="D2D2D2"/>
    </a:custClr>
    <a:custClr name="Orange">
      <a:srgbClr val="D83B01"/>
    </a:custClr>
    <a:custClr name="Yellow">
      <a:srgbClr val="FFB900"/>
    </a:custClr>
    <a:custClr name="Green">
      <a:srgbClr val="107C10"/>
    </a:custClr>
    <a:custClr name="Teal">
      <a:srgbClr val="008575"/>
    </a:custClr>
    <a:custClr name="Blue">
      <a:srgbClr val="0078D4"/>
    </a:custClr>
    <a:custClr name="Purple">
      <a:srgbClr val="8661C5"/>
    </a:custClr>
    <a:custClr name="Mid Gray">
      <a:srgbClr val="737373"/>
    </a:custClr>
    <a:custClr name="Dark Gray">
      <a:srgbClr val="505050"/>
    </a:custClr>
    <a:custClr name="Extra Dark Gray">
      <a:srgbClr val="2F2F2F"/>
    </a:custClr>
    <a:custClr name="Rick Black">
      <a:srgbClr val="000000"/>
    </a:custClr>
    <a:custClr name="Dark Orange">
      <a:srgbClr val="6B2929"/>
    </a:custClr>
    <a:custClr name="Dark Yellow">
      <a:srgbClr val="6A4B16"/>
    </a:custClr>
    <a:custClr name="Dark Green">
      <a:srgbClr val="054B16"/>
    </a:custClr>
    <a:custClr name="Dark Teal">
      <a:srgbClr val="274B47"/>
    </a:custClr>
    <a:custClr name="Dark Blue">
      <a:srgbClr val="243A5E"/>
    </a:custClr>
    <a:custClr name="Dark Purple">
      <a:srgbClr val="3B2E58"/>
    </a:custClr>
  </a:custClr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39b48df9-7bcc-48f8-84a5-975ca2e243d0" xsi:nil="true"/>
    <lcf76f155ced4ddcb4097134ff3c332f xmlns="39b48df9-7bcc-48f8-84a5-975ca2e243d0">
      <Terms xmlns="http://schemas.microsoft.com/office/infopath/2007/PartnerControls"/>
    </lcf76f155ced4ddcb4097134ff3c332f>
    <j5610f6f79384a4d92af5d7a6b56e029 xmlns="39b48df9-7bcc-48f8-84a5-975ca2e243d0">
      <Terms xmlns="http://schemas.microsoft.com/office/infopath/2007/PartnerControls"/>
    </j5610f6f79384a4d92af5d7a6b56e029>
    <uvsThumbnailurl xmlns="39b48df9-7bcc-48f8-84a5-975ca2e243d0" xsi:nil="true"/>
    <TaxCatchAll xmlns="230e9df3-be65-4c73-a93b-d1236ebd677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5EC89680E11F64392A775FE1A751122" ma:contentTypeVersion="26" ma:contentTypeDescription="Create a new document." ma:contentTypeScope="" ma:versionID="9969028081730ee97d21bdaac806d38a">
  <xsd:schema xmlns:xsd="http://www.w3.org/2001/XMLSchema" xmlns:xs="http://www.w3.org/2001/XMLSchema" xmlns:p="http://schemas.microsoft.com/office/2006/metadata/properties" xmlns:ns1="http://schemas.microsoft.com/sharepoint/v3" xmlns:ns2="39b48df9-7bcc-48f8-84a5-975ca2e243d0" xmlns:ns3="8acfeebd-d9f0-4ade-ade8-6c6fbcc43572" xmlns:ns4="230e9df3-be65-4c73-a93b-d1236ebd677e" targetNamespace="http://schemas.microsoft.com/office/2006/metadata/properties" ma:root="true" ma:fieldsID="531b72d70252e024ceee9ee87ea63378" ns1:_="" ns2:_="" ns3:_="" ns4:_="">
    <xsd:import namespace="http://schemas.microsoft.com/sharepoint/v3"/>
    <xsd:import namespace="39b48df9-7bcc-48f8-84a5-975ca2e243d0"/>
    <xsd:import namespace="8acfeebd-d9f0-4ade-ade8-6c6fbcc43572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uvsThumbnailurl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4:TaxCatchAll" minOccurs="0"/>
                <xsd:element ref="ns1:_ip_UnifiedCompliancePolicyProperties" minOccurs="0"/>
                <xsd:element ref="ns1:_ip_UnifiedCompliancePolicyUIAction" minOccurs="0"/>
                <xsd:element ref="ns2:MediaServiceSearchProperties" minOccurs="0"/>
                <xsd:element ref="ns2:j5610f6f79384a4d92af5d7a6b56e029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4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5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9b48df9-7bcc-48f8-84a5-975ca2e243d0" elementFormDefault="qualified">
    <xsd:import namespace="http://schemas.microsoft.com/office/2006/documentManagement/types"/>
    <xsd:import namespace="http://schemas.microsoft.com/office/infopath/2007/PartnerControls"/>
    <xsd:element name="uvsThumbnailurl" ma:index="8" nillable="true" ma:displayName="uvsThumbnailurl" ma:format="Dropdown" ma:internalName="uvsThumbnailurl">
      <xsd:simpleType>
        <xsd:restriction base="dms:Text">
          <xsd:maxLength value="255"/>
        </xsd:restriction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j5610f6f79384a4d92af5d7a6b56e029" ma:index="28" nillable="true" ma:taxonomy="true" ma:internalName="j5610f6f79384a4d92af5d7a6b56e029" ma:taxonomyFieldName="Metadata" ma:displayName="Metadata" ma:default="" ma:fieldId="{35610f6f-7938-4a4d-92af-5d7a6b56e029}" ma:sspId="e385fb40-52d4-4fae-9c5b-3e8ff8a5878e" ma:termSetId="386095d1-c68d-4c6d-b587-48ddaf1aecc9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MediaServiceDocTags" ma:index="29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3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cfeebd-d9f0-4ade-ade8-6c6fbcc43572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cf082490-e48c-4bba-a917-bf1fc11e5a27}" ma:internalName="TaxCatchAll" ma:showField="CatchAllData" ma:web="8acfeebd-d9f0-4ade-ade8-6c6fbcc4357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990F116-B58F-4255-B05B-DA3808E0E5C6}">
  <ds:schemaRefs>
    <ds:schemaRef ds:uri="8acfeebd-d9f0-4ade-ade8-6c6fbcc43572"/>
    <ds:schemaRef ds:uri="http://purl.org/dc/dcmitype/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230e9df3-be65-4c73-a93b-d1236ebd677e"/>
    <ds:schemaRef ds:uri="39b48df9-7bcc-48f8-84a5-975ca2e243d0"/>
    <ds:schemaRef ds:uri="http://www.w3.org/XML/1998/namespace"/>
    <ds:schemaRef ds:uri="http://schemas.microsoft.com/sharepoint/v3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468D98C-7056-4B2E-AF35-ADD173A05FC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9b48df9-7bcc-48f8-84a5-975ca2e243d0"/>
    <ds:schemaRef ds:uri="8acfeebd-d9f0-4ade-ade8-6c6fbcc43572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Microsoft Build 16:9 Template Light</Template>
  <TotalTime>1874</TotalTime>
  <Words>770</Words>
  <Application>Microsoft Macintosh PowerPoint</Application>
  <PresentationFormat>Widescreen</PresentationFormat>
  <Paragraphs>120</Paragraphs>
  <Slides>13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Aptos</vt:lpstr>
      <vt:lpstr>Arial</vt:lpstr>
      <vt:lpstr>Consolas</vt:lpstr>
      <vt:lpstr>Segoe Sans Display Semibold</vt:lpstr>
      <vt:lpstr>Segoe UI</vt:lpstr>
      <vt:lpstr>Segoe UI Semibold</vt:lpstr>
      <vt:lpstr>Segoe UI Variable Display Semib</vt:lpstr>
      <vt:lpstr>Wingdings</vt:lpstr>
      <vt:lpstr>Microsoft Build 16:9 Template Light</vt:lpstr>
      <vt:lpstr>Microsoft Build 16:9 Template Dark</vt:lpstr>
      <vt:lpstr>Microsoft Build</vt:lpstr>
      <vt:lpstr>Fine-tuning &amp; adaption</vt:lpstr>
      <vt:lpstr>Turn real usage into better agents</vt:lpstr>
      <vt:lpstr>Sessions</vt:lpstr>
      <vt:lpstr>PowerPoint Presentation</vt:lpstr>
      <vt:lpstr>PowerPoint Presentation</vt:lpstr>
      <vt:lpstr>Highlights</vt:lpstr>
      <vt:lpstr>Turn usage into learned behavior Models learn your business logic, not just prompts</vt:lpstr>
      <vt:lpstr>Train on what actually happens in production Don’t pay frontier‑model prices for narrow tasks</vt:lpstr>
      <vt:lpstr>Go beyond one‑click optimization Full control with training API when standard approaches aren’t enough</vt:lpstr>
      <vt:lpstr>Make fine‑tuning part of your workflow Fine‑tuning meets developer productivity</vt:lpstr>
      <vt:lpstr>Feedback</vt:lpstr>
      <vt:lpstr>Fill out the survey to provide direct feedback to the product team</vt:lpstr>
    </vt:vector>
  </TitlesOfParts>
  <Manager>&lt;Comms manager name here&gt;</Manager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Microsoft Build</dc:subject>
  <dc:creator>Esra Bakkalbasioglu</dc:creator>
  <cp:keywords>Microsoft Build</cp:keywords>
  <dc:description/>
  <cp:lastModifiedBy>Esra Bakkalbasioglu</cp:lastModifiedBy>
  <cp:revision>2</cp:revision>
  <cp:lastPrinted>2023-02-15T20:48:24Z</cp:lastPrinted>
  <dcterms:created xsi:type="dcterms:W3CDTF">2026-05-28T21:54:37Z</dcterms:created>
  <dcterms:modified xsi:type="dcterms:W3CDTF">2026-05-30T05:08:54Z</dcterms:modified>
  <cp:category>Microsoft Build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0x01010005EC89680E11F64392A775FE1A751122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MSIP_Label_f42aa342-8706-4288-bd11-ebb85995028c_Enabled">
    <vt:lpwstr>True</vt:lpwstr>
  </property>
  <property fmtid="{D5CDD505-2E9C-101B-9397-08002B2CF9AE}" pid="12" name="MSIP_Label_f42aa342-8706-4288-bd11-ebb85995028c_SiteId">
    <vt:lpwstr>72f988bf-86f1-41af-91ab-2d7cd011db47</vt:lpwstr>
  </property>
  <property fmtid="{D5CDD505-2E9C-101B-9397-08002B2CF9AE}" pid="13" name="MSIP_Label_f42aa342-8706-4288-bd11-ebb85995028c_Ref">
    <vt:lpwstr>https://api.informationprotection.azure.com/api/72f988bf-86f1-41af-91ab-2d7cd011db47</vt:lpwstr>
  </property>
  <property fmtid="{D5CDD505-2E9C-101B-9397-08002B2CF9AE}" pid="14" name="MSIP_Label_f42aa342-8706-4288-bd11-ebb85995028c_SetDate">
    <vt:lpwstr>2017-08-29T14:27:20.8568347-07:00</vt:lpwstr>
  </property>
  <property fmtid="{D5CDD505-2E9C-101B-9397-08002B2CF9AE}" pid="15" name="MSIP_Label_f42aa342-8706-4288-bd11-ebb85995028c_Name">
    <vt:lpwstr>General</vt:lpwstr>
  </property>
  <property fmtid="{D5CDD505-2E9C-101B-9397-08002B2CF9AE}" pid="16" name="MSIP_Label_f42aa342-8706-4288-bd11-ebb85995028c_Extended_MSFT_Method">
    <vt:lpwstr>Automatic</vt:lpwstr>
  </property>
  <property fmtid="{D5CDD505-2E9C-101B-9397-08002B2CF9AE}" pid="17" name="Sensitivity">
    <vt:lpwstr>General</vt:lpwstr>
  </property>
</Properties>
</file>